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86a3e2f-67b3-7f92-906b-05fe7f451f80}">
          <p14:sldIdLst>
            <p14:sldId id="256"/>
            <p14:sldId id="257"/>
          </p14:sldIdLst>
        </p14:section>
        <p14:section name="The problem" id="{54e103dc-c02a-8f08-a6e8-7c09aa008974}">
          <p14:sldIdLst>
            <p14:sldId id="258"/>
            <p14:sldId id="259"/>
          </p14:sldIdLst>
        </p14:section>
        <p14:section name="Our approach" id="{30b1fc53-39c7-5ae2-3805-8f085ef9d2af}">
          <p14:sldIdLst>
            <p14:sldId id="260"/>
            <p14:sldId id="261"/>
          </p14:sldIdLst>
        </p14:section>
        <p14:section name="Findings" id="{d1f15168-11e6-58e2-664d-0c914e34a1ec}">
          <p14:sldIdLst>
            <p14:sldId id="262"/>
            <p14:sldId id="263"/>
          </p14:sldIdLst>
        </p14:section>
        <p14:section name="The obstacle" id="{013b53d7-a0a1-9217-5498-20cb8d2f22ea}">
          <p14:sldIdLst>
            <p14:sldId id="264"/>
            <p14:sldId id="265"/>
          </p14:sldIdLst>
        </p14:section>
        <p14:section name="Results" id="{ce376466-7807-8954-6e02-86956f7c70b8}">
          <p14:sldIdLst>
            <p14:sldId id="266"/>
            <p14:sldId id="267"/>
            <p14:sldId id="268"/>
          </p14:sldIdLst>
        </p14:section>
        <p14:section name="Close" id="{293bd257-58d7-5807-25c9-175fe9ede5c0}">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3557"/>
                </a:solidFill>
                <a:latin typeface="+mn-lt"/>
              </a:defRPr>
            </a:pPr>
            <a:r>
              <a:rPr sz="1200" b="0" i="0" u="none" strike="noStrike">
                <a:solidFill>
                  <a:srgbClr val="1D3557"/>
                </a:solidFill>
                <a:latin typeface="+mn-lt"/>
              </a:rPr>
              <a:t>Fraud rate by hour of day, training period (%)</a:t>
            </a:r>
          </a:p>
        </c:rich>
      </c:tx>
      <c:layout/>
      <c:overlay val="0"/>
    </c:title>
    <c:autoTitleDeleted val="0"/>
    <c:plotArea>
      <c:layout/>
      <c:barChart>
        <c:barDir val="col"/>
        <c:grouping val="clustered"/>
        <c:varyColors val="0"/>
        <c:ser>
          <c:idx val="0"/>
          <c:order val="0"/>
          <c:tx>
            <c:strRef>
              <c:f>Sheet1!$B$1</c:f>
              <c:strCache>
                <c:ptCount val="1"/>
                <c:pt idx="0">
                  <c:v>Fraud rate (%)</c:v>
                </c:pt>
              </c:strCache>
            </c:strRef>
          </c:tx>
          <c:spPr>
            <a:solidFill>
              <a:srgbClr val="8D99AE"/>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dPt>
            <c:idx val="0"/>
            <c:invertIfNegative val="0"/>
            <c:bubble3D val="0"/>
            <c:spPr>
              <a:solidFill>
                <a:srgbClr val="8D99AE"/>
              </a:solidFill>
              <a:effectLst/>
            </c:spPr>
          </c:dPt>
          <c:dPt>
            <c:idx val="1"/>
            <c:invertIfNegative val="0"/>
            <c:bubble3D val="0"/>
            <c:spPr>
              <a:solidFill>
                <a:srgbClr val="8D99AE"/>
              </a:solidFill>
              <a:effectLst/>
            </c:spPr>
          </c:dPt>
          <c:dPt>
            <c:idx val="2"/>
            <c:invertIfNegative val="0"/>
            <c:bubble3D val="0"/>
            <c:spPr>
              <a:solidFill>
                <a:srgbClr val="E63946"/>
              </a:solidFill>
              <a:effectLst/>
            </c:spPr>
          </c:dPt>
          <c:dPt>
            <c:idx val="3"/>
            <c:invertIfNegative val="0"/>
            <c:bubble3D val="0"/>
            <c:spPr>
              <a:solidFill>
                <a:srgbClr val="E63946"/>
              </a:solidFill>
              <a:effectLst/>
            </c:spPr>
          </c:dPt>
          <c:dPt>
            <c:idx val="4"/>
            <c:invertIfNegative val="0"/>
            <c:bubble3D val="0"/>
            <c:spPr>
              <a:solidFill>
                <a:srgbClr val="E63946"/>
              </a:solidFill>
              <a:effectLst/>
            </c:spPr>
          </c:dPt>
          <c:dPt>
            <c:idx val="5"/>
            <c:invertIfNegative val="0"/>
            <c:bubble3D val="0"/>
            <c:spPr>
              <a:solidFill>
                <a:srgbClr val="8D99AE"/>
              </a:solidFill>
              <a:effectLst/>
            </c:spPr>
          </c:dPt>
          <c:dPt>
            <c:idx val="6"/>
            <c:invertIfNegative val="0"/>
            <c:bubble3D val="0"/>
            <c:spPr>
              <a:solidFill>
                <a:srgbClr val="8D99AE"/>
              </a:solidFill>
              <a:effectLst/>
            </c:spPr>
          </c:dPt>
          <c:dPt>
            <c:idx val="7"/>
            <c:invertIfNegative val="0"/>
            <c:bubble3D val="0"/>
            <c:spPr>
              <a:solidFill>
                <a:srgbClr val="8D99AE"/>
              </a:solidFill>
              <a:effectLst/>
            </c:spPr>
          </c:dPt>
          <c:dPt>
            <c:idx val="8"/>
            <c:invertIfNegative val="0"/>
            <c:bubble3D val="0"/>
            <c:spPr>
              <a:solidFill>
                <a:srgbClr val="8D99AE"/>
              </a:solidFill>
              <a:effectLst/>
            </c:spPr>
          </c:dPt>
          <c:dPt>
            <c:idx val="9"/>
            <c:invertIfNegative val="0"/>
            <c:bubble3D val="0"/>
            <c:spPr>
              <a:solidFill>
                <a:srgbClr val="8D99AE"/>
              </a:solidFill>
              <a:effectLst/>
            </c:spPr>
          </c:dPt>
          <c:dPt>
            <c:idx val="10"/>
            <c:invertIfNegative val="0"/>
            <c:bubble3D val="0"/>
            <c:spPr>
              <a:solidFill>
                <a:srgbClr val="8D99AE"/>
              </a:solidFill>
              <a:effectLst/>
            </c:spPr>
          </c:dPt>
          <c:dPt>
            <c:idx val="11"/>
            <c:invertIfNegative val="0"/>
            <c:bubble3D val="0"/>
            <c:spPr>
              <a:solidFill>
                <a:srgbClr val="E63946"/>
              </a:solidFill>
              <a:effectLst/>
            </c:spPr>
          </c:dPt>
          <c:dPt>
            <c:idx val="12"/>
            <c:invertIfNegative val="0"/>
            <c:bubble3D val="0"/>
            <c:spPr>
              <a:solidFill>
                <a:srgbClr val="8D99AE"/>
              </a:solidFill>
              <a:effectLst/>
            </c:spPr>
          </c:dPt>
          <c:dPt>
            <c:idx val="13"/>
            <c:invertIfNegative val="0"/>
            <c:bubble3D val="0"/>
            <c:spPr>
              <a:solidFill>
                <a:srgbClr val="8D99AE"/>
              </a:solidFill>
              <a:effectLst/>
            </c:spPr>
          </c:dPt>
          <c:dPt>
            <c:idx val="14"/>
            <c:invertIfNegative val="0"/>
            <c:bubble3D val="0"/>
            <c:spPr>
              <a:solidFill>
                <a:srgbClr val="8D99AE"/>
              </a:solidFill>
              <a:effectLst/>
            </c:spPr>
          </c:dPt>
          <c:dPt>
            <c:idx val="15"/>
            <c:invertIfNegative val="0"/>
            <c:bubble3D val="0"/>
            <c:spPr>
              <a:solidFill>
                <a:srgbClr val="8D99AE"/>
              </a:solidFill>
              <a:effectLst/>
            </c:spPr>
          </c:dPt>
          <c:dPt>
            <c:idx val="16"/>
            <c:invertIfNegative val="0"/>
            <c:bubble3D val="0"/>
            <c:spPr>
              <a:solidFill>
                <a:srgbClr val="8D99AE"/>
              </a:solidFill>
              <a:effectLst/>
            </c:spPr>
          </c:dPt>
          <c:dPt>
            <c:idx val="17"/>
            <c:invertIfNegative val="0"/>
            <c:bubble3D val="0"/>
            <c:spPr>
              <a:solidFill>
                <a:srgbClr val="8D99AE"/>
              </a:solidFill>
              <a:effectLst/>
            </c:spPr>
          </c:dPt>
          <c:dPt>
            <c:idx val="18"/>
            <c:invertIfNegative val="0"/>
            <c:bubble3D val="0"/>
            <c:spPr>
              <a:solidFill>
                <a:srgbClr val="8D99AE"/>
              </a:solidFill>
              <a:effectLst/>
            </c:spPr>
          </c:dPt>
          <c:dPt>
            <c:idx val="19"/>
            <c:invertIfNegative val="0"/>
            <c:bubble3D val="0"/>
            <c:spPr>
              <a:solidFill>
                <a:srgbClr val="8D99AE"/>
              </a:solidFill>
              <a:effectLst/>
            </c:spPr>
          </c:dPt>
          <c:dPt>
            <c:idx val="20"/>
            <c:invertIfNegative val="0"/>
            <c:bubble3D val="0"/>
            <c:spPr>
              <a:solidFill>
                <a:srgbClr val="8D99AE"/>
              </a:solidFill>
              <a:effectLst/>
            </c:spPr>
          </c:dPt>
          <c:dPt>
            <c:idx val="21"/>
            <c:invertIfNegative val="0"/>
            <c:bubble3D val="0"/>
            <c:spPr>
              <a:solidFill>
                <a:srgbClr val="8D99AE"/>
              </a:solidFill>
              <a:effectLst/>
            </c:spPr>
          </c:dPt>
          <c:dPt>
            <c:idx val="22"/>
            <c:invertIfNegative val="0"/>
            <c:bubble3D val="0"/>
            <c:spPr>
              <a:solidFill>
                <a:srgbClr val="8D99AE"/>
              </a:solidFill>
              <a:effectLst/>
            </c:spPr>
          </c:dPt>
          <c:dPt>
            <c:idx val="23"/>
            <c:invertIfNegative val="0"/>
            <c:bubble3D val="0"/>
            <c:spPr>
              <a:solidFill>
                <a:srgbClr val="8D99AE"/>
              </a:solidFill>
              <a:effectLst/>
            </c:spPr>
          </c:dPt>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0.078</c:v>
                </c:pt>
                <c:pt idx="1">
                  <c:v>0.238</c:v>
                </c:pt>
                <c:pt idx="2">
                  <c:v>1.451</c:v>
                </c:pt>
                <c:pt idx="3">
                  <c:v>0.488</c:v>
                </c:pt>
                <c:pt idx="4">
                  <c:v>1.044</c:v>
                </c:pt>
                <c:pt idx="5">
                  <c:v>0.368</c:v>
                </c:pt>
                <c:pt idx="6">
                  <c:v>0.22</c:v>
                </c:pt>
                <c:pt idx="7">
                  <c:v>0.318</c:v>
                </c:pt>
                <c:pt idx="8">
                  <c:v>0.088</c:v>
                </c:pt>
                <c:pt idx="9">
                  <c:v>0.135</c:v>
                </c:pt>
                <c:pt idx="10">
                  <c:v>0.024</c:v>
                </c:pt>
                <c:pt idx="11">
                  <c:v>0.507</c:v>
                </c:pt>
                <c:pt idx="12">
                  <c:v>0.117</c:v>
                </c:pt>
                <c:pt idx="13">
                  <c:v>0.119</c:v>
                </c:pt>
                <c:pt idx="14">
                  <c:v>0.162</c:v>
                </c:pt>
                <c:pt idx="15">
                  <c:v>0.179</c:v>
                </c:pt>
                <c:pt idx="16">
                  <c:v>0.18</c:v>
                </c:pt>
                <c:pt idx="17">
                  <c:v>0.152</c:v>
                </c:pt>
                <c:pt idx="18">
                  <c:v>0.117</c:v>
                </c:pt>
                <c:pt idx="19">
                  <c:v>0.088</c:v>
                </c:pt>
                <c:pt idx="20">
                  <c:v>0.089</c:v>
                </c:pt>
                <c:pt idx="21">
                  <c:v>0.142</c:v>
                </c:pt>
                <c:pt idx="22">
                  <c:v>0.034</c:v>
                </c:pt>
                <c:pt idx="23">
                  <c:v>0.215</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457B9D"/>
                    </a:solidFill>
                    <a:latin typeface="Arial"/>
                  </a:defRPr>
                </a:pPr>
                <a:r>
                  <a:rPr sz="1000" b="0" i="0" u="none" strike="noStrike">
                    <a:solidFill>
                      <a:srgbClr val="457B9D"/>
                    </a:solidFill>
                    <a:latin typeface="Arial"/>
                  </a:rPr>
                  <a:t>Hour of day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7B9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57B9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3557"/>
                </a:solidFill>
                <a:latin typeface="+mn-lt"/>
              </a:defRPr>
            </a:pPr>
            <a:r>
              <a:rPr sz="1200" b="0" i="0" u="none" strike="noStrike">
                <a:solidFill>
                  <a:srgbClr val="1D3557"/>
                </a:solidFill>
                <a:latin typeface="+mn-lt"/>
              </a:rPr>
              <a:t>GMM, K=3, all 29 features: validation AP by random seed</a:t>
            </a:r>
          </a:p>
        </c:rich>
      </c:tx>
      <c:layout/>
      <c:overlay val="0"/>
    </c:title>
    <c:autoTitleDeleted val="0"/>
    <c:plotArea>
      <c:layout/>
      <c:barChart>
        <c:barDir val="col"/>
        <c:grouping val="clustered"/>
        <c:varyColors val="0"/>
        <c:ser>
          <c:idx val="0"/>
          <c:order val="0"/>
          <c:tx>
            <c:strRef>
              <c:f>Sheet1!$B$1</c:f>
              <c:strCache>
                <c:ptCount val="1"/>
                <c:pt idx="0">
                  <c:v>Validation AP</c:v>
                </c:pt>
              </c:strCache>
            </c:strRef>
          </c:tx>
          <c:spPr>
            <a:solidFill>
              <a:srgbClr val="457B9D"/>
            </a:solidFill>
            <a:effectLst/>
          </c:spPr>
          <c:invertIfNegative val="0"/>
          <c:dLbls>
            <c:numFmt formatCode="0.00"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dPt>
            <c:idx val="0"/>
            <c:invertIfNegative val="0"/>
            <c:bubble3D val="0"/>
            <c:spPr>
              <a:solidFill>
                <a:srgbClr val="457B9D"/>
              </a:solidFill>
              <a:effectLst/>
            </c:spPr>
          </c:dPt>
          <c:dPt>
            <c:idx val="1"/>
            <c:invertIfNegative val="0"/>
            <c:bubble3D val="0"/>
            <c:spPr>
              <a:solidFill>
                <a:srgbClr val="E63946"/>
              </a:solidFill>
              <a:effectLst/>
            </c:spPr>
          </c:dPt>
          <c:dPt>
            <c:idx val="2"/>
            <c:invertIfNegative val="0"/>
            <c:bubble3D val="0"/>
            <c:spPr>
              <a:solidFill>
                <a:srgbClr val="457B9D"/>
              </a:solidFill>
              <a:effectLst/>
            </c:spPr>
          </c:dPt>
          <c:cat>
            <c:multiLvlStrRef>
              <c:f>Sheet1!$A$2:$A$4</c:f>
              <c:multiLvlStrCache>
                <c:ptCount val="3"/>
                <c:lvl>
                  <c:pt idx="0">
                    <c:v>Seed 0</c:v>
                  </c:pt>
                  <c:pt idx="1">
                    <c:v>Seed 1</c:v>
                  </c:pt>
                  <c:pt idx="2">
                    <c:v>Seed 2</c:v>
                  </c:pt>
                </c:lvl>
              </c:multiLvlStrCache>
            </c:multiLvlStrRef>
          </c:cat>
          <c:val>
            <c:numRef>
              <c:f>Sheet1!$B$2:$B$4</c:f>
              <c:numCache>
                <c:formatCode>General</c:formatCode>
                <c:ptCount val="3"/>
                <c:pt idx="0">
                  <c:v>0.638</c:v>
                </c:pt>
                <c:pt idx="1">
                  <c:v>0.343</c:v>
                </c:pt>
                <c:pt idx="2">
                  <c:v>0.666</c:v>
                </c:pt>
              </c:numCache>
            </c:numRef>
          </c:val>
        </c:ser>
        <c:dLbls>
          <c:numFmt formatCode="0.00"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57B9D"/>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E3E8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57B9D"/>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3557"/>
                </a:solidFill>
                <a:latin typeface="+mn-lt"/>
              </a:defRPr>
            </a:pPr>
            <a:r>
              <a:rPr sz="1200" b="0" i="0" u="none" strike="noStrike">
                <a:solidFill>
                  <a:srgbClr val="1D3557"/>
                </a:solidFill>
                <a:latin typeface="+mn-lt"/>
              </a:rPr>
              <a:t>Mean validation AP over 3 seeds, by number of components (K)</a:t>
            </a:r>
          </a:p>
        </c:rich>
      </c:tx>
      <c:layout/>
      <c:overlay val="0"/>
    </c:title>
    <c:autoTitleDeleted val="0"/>
    <c:plotArea>
      <c:layout/>
      <c:lineChart>
        <c:varyColors val="0"/>
        <c:ser>
          <c:idx val="0"/>
          <c:order val="0"/>
          <c:tx>
            <c:strRef>
              <c:f>Sheet1!$B$1</c:f>
              <c:strCache>
                <c:ptCount val="1"/>
                <c:pt idx="0">
                  <c:v>All 29 features</c:v>
                </c:pt>
              </c:strCache>
            </c:strRef>
          </c:tx>
          <c:spPr>
            <a:solidFill>
              <a:srgbClr val="E63946"/>
            </a:solidFill>
            <a:ln w="31750" cap="flat">
              <a:solidFill>
                <a:srgbClr val="E6394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E63946"/>
              </a:solidFill>
              <a:ln w="9525" cap="flat">
                <a:solidFill>
                  <a:srgbClr val="E63946"/>
                </a:solidFill>
                <a:prstDash val="solid"/>
                <a:round/>
              </a:ln>
              <a:effectLst/>
            </c:spPr>
          </c:marker>
          <c:cat>
            <c:multiLvlStrRef>
              <c:f>Sheet1!$A$2:$A$9</c:f>
              <c:multiLvlStrCache>
                <c:ptCount val="8"/>
                <c:lvl>
                  <c:pt idx="0">
                    <c:v>1</c:v>
                  </c:pt>
                  <c:pt idx="1">
                    <c:v>2</c:v>
                  </c:pt>
                  <c:pt idx="2">
                    <c:v>3</c:v>
                  </c:pt>
                  <c:pt idx="3">
                    <c:v>4</c:v>
                  </c:pt>
                  <c:pt idx="4">
                    <c:v>5</c:v>
                  </c:pt>
                  <c:pt idx="5">
                    <c:v>6</c:v>
                  </c:pt>
                  <c:pt idx="6">
                    <c:v>7</c:v>
                  </c:pt>
                  <c:pt idx="7">
                    <c:v>8</c:v>
                  </c:pt>
                </c:lvl>
              </c:multiLvlStrCache>
            </c:multiLvlStrRef>
          </c:cat>
          <c:val>
            <c:numRef>
              <c:f>Sheet1!$B$2:$B$9</c:f>
              <c:numCache>
                <c:formatCode>General</c:formatCode>
                <c:ptCount val="8"/>
                <c:pt idx="0">
                  <c:v>0.074</c:v>
                </c:pt>
                <c:pt idx="1">
                  <c:v>0.176</c:v>
                </c:pt>
                <c:pt idx="2">
                  <c:v>0.549</c:v>
                </c:pt>
                <c:pt idx="3">
                  <c:v>0.068</c:v>
                </c:pt>
                <c:pt idx="4">
                  <c:v>0.3</c:v>
                </c:pt>
                <c:pt idx="5">
                  <c:v>0.068</c:v>
                </c:pt>
                <c:pt idx="6">
                  <c:v>0.196</c:v>
                </c:pt>
                <c:pt idx="7">
                  <c:v>0.323</c:v>
                </c:pt>
              </c:numCache>
            </c:numRef>
          </c:val>
          <c:smooth val="0"/>
        </c:ser>
        <c:ser>
          <c:idx val="1"/>
          <c:order val="1"/>
          <c:tx>
            <c:strRef>
              <c:f>Sheet1!$C$1</c:f>
              <c:strCache>
                <c:ptCount val="1"/>
                <c:pt idx="0">
                  <c:v>Selected 12 features</c:v>
                </c:pt>
              </c:strCache>
            </c:strRef>
          </c:tx>
          <c:spPr>
            <a:solidFill>
              <a:srgbClr val="457B9D"/>
            </a:solidFill>
            <a:ln w="31750" cap="flat">
              <a:solidFill>
                <a:srgbClr val="457B9D"/>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457B9D"/>
              </a:solidFill>
              <a:ln w="9525" cap="flat">
                <a:solidFill>
                  <a:srgbClr val="457B9D"/>
                </a:solidFill>
                <a:prstDash val="solid"/>
                <a:round/>
              </a:ln>
              <a:effectLst/>
            </c:spPr>
          </c:marker>
          <c:cat>
            <c:multiLvlStrRef>
              <c:f>Sheet1!$A$2:$A$9</c:f>
              <c:multiLvlStrCache>
                <c:ptCount val="8"/>
                <c:lvl>
                  <c:pt idx="0">
                    <c:v>1</c:v>
                  </c:pt>
                  <c:pt idx="1">
                    <c:v>2</c:v>
                  </c:pt>
                  <c:pt idx="2">
                    <c:v>3</c:v>
                  </c:pt>
                  <c:pt idx="3">
                    <c:v>4</c:v>
                  </c:pt>
                  <c:pt idx="4">
                    <c:v>5</c:v>
                  </c:pt>
                  <c:pt idx="5">
                    <c:v>6</c:v>
                  </c:pt>
                  <c:pt idx="6">
                    <c:v>7</c:v>
                  </c:pt>
                  <c:pt idx="7">
                    <c:v>8</c:v>
                  </c:pt>
                </c:lvl>
              </c:multiLvlStrCache>
            </c:multiLvlStrRef>
          </c:cat>
          <c:val>
            <c:numRef>
              <c:f>Sheet1!$C$2:$C$9</c:f>
              <c:numCache>
                <c:formatCode>General</c:formatCode>
                <c:ptCount val="8"/>
                <c:pt idx="0">
                  <c:v>0.266</c:v>
                </c:pt>
                <c:pt idx="1">
                  <c:v>0.205</c:v>
                </c:pt>
                <c:pt idx="2">
                  <c:v>0.201</c:v>
                </c:pt>
                <c:pt idx="3">
                  <c:v>0.197</c:v>
                </c:pt>
                <c:pt idx="4">
                  <c:v>0.203</c:v>
                </c:pt>
                <c:pt idx="5">
                  <c:v>0.334</c:v>
                </c:pt>
                <c:pt idx="6">
                  <c:v>0.067</c:v>
                </c:pt>
                <c:pt idx="7">
                  <c:v>0.075</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457B9D"/>
                    </a:solidFill>
                    <a:latin typeface="Arial"/>
                  </a:defRPr>
                </a:pPr>
                <a:r>
                  <a:rPr sz="1000" b="0" i="0" u="none" strike="noStrike">
                    <a:solidFill>
                      <a:srgbClr val="457B9D"/>
                    </a:solidFill>
                    <a:latin typeface="Arial"/>
                  </a:rPr>
                  <a:t>Number of components (K)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57B9D"/>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E3E8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57B9D"/>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1D355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3557"/>
                </a:solidFill>
                <a:latin typeface="+mn-lt"/>
              </a:defRPr>
            </a:pPr>
            <a:r>
              <a:rPr sz="1200" b="0" i="0" u="none" strike="noStrike">
                <a:solidFill>
                  <a:srgbClr val="1D3557"/>
                </a:solidFill>
                <a:latin typeface="+mn-lt"/>
              </a:rPr>
              <a:t>Share of top-ranked alerts that are real fraud, test set (%)</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457B9D"/>
            </a:solidFill>
            <a:effectLst/>
          </c:spPr>
          <c:invertIfNegative val="0"/>
          <c:dLbls>
            <c:numFmt formatCode="0&quot;%&quot;"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dPt>
            <c:idx val="0"/>
            <c:invertIfNegative val="0"/>
            <c:bubble3D val="0"/>
            <c:spPr>
              <a:solidFill>
                <a:srgbClr val="457B9D"/>
              </a:solidFill>
              <a:effectLst/>
            </c:spPr>
          </c:dPt>
          <c:dPt>
            <c:idx val="1"/>
            <c:invertIfNegative val="0"/>
            <c:bubble3D val="0"/>
            <c:spPr>
              <a:solidFill>
                <a:srgbClr val="E63946"/>
              </a:solidFill>
              <a:effectLst/>
            </c:spPr>
          </c:dPt>
          <c:dPt>
            <c:idx val="2"/>
            <c:invertIfNegative val="0"/>
            <c:bubble3D val="0"/>
            <c:spPr>
              <a:solidFill>
                <a:srgbClr val="457B9D"/>
              </a:solidFill>
              <a:effectLst/>
            </c:spPr>
          </c:dPt>
          <c:cat>
            <c:multiLvlStrRef>
              <c:f>Sheet1!$A$2:$A$4</c:f>
              <c:multiLvlStrCache>
                <c:ptCount val="3"/>
                <c:lvl>
                  <c:pt idx="0">
                    <c:v>Top 25</c:v>
                  </c:pt>
                  <c:pt idx="1">
                    <c:v>Top 50</c:v>
                  </c:pt>
                  <c:pt idx="2">
                    <c:v>Top 100</c:v>
                  </c:pt>
                </c:lvl>
              </c:multiLvlStrCache>
            </c:multiLvlStrRef>
          </c:cat>
          <c:val>
            <c:numRef>
              <c:f>Sheet1!$B$2:$B$4</c:f>
              <c:numCache>
                <c:formatCode>General</c:formatCode>
                <c:ptCount val="3"/>
                <c:pt idx="0">
                  <c:v>72</c:v>
                </c:pt>
                <c:pt idx="1">
                  <c:v>84</c:v>
                </c:pt>
                <c:pt idx="2">
                  <c:v>56</c:v>
                </c:pt>
              </c:numCache>
            </c:numRef>
          </c:val>
        </c:ser>
        <c:dLbls>
          <c:numFmt formatCode="0&quot;%&quot;"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57B9D"/>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8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57B9D"/>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system that ranks card transactions by how suspicious they look, using a model trained only on normal behaviour. This talk follows the problem the way a bank's fraud team experiences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is illustrative, but the numbers are our test period: 56,746 transactions, of which 74 are fraud. The analyst cannot check everything, so the job is to put the right cases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useless here: a model that approves everything is 99.8% accurate. What matters is whether the top of the list is full of real fraud, so we measure ranking quality and precision in the top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design decision. Fraud labels are scarce and late, and fraudsters change tactics. Legitimate behaviour is abundant and relatively stable, so we model that and flag what doesn't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design choice traces back to an operational constraint. The most important is the time-based split: a random split would let the model peek at future patterns and overstate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notebook reads the previous one's outputs, and the whole pipeline reruns end to end in about eight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analysis was done on the training period only, so it could not leak test labels. Night-time transactions are rare but disproportionately fraudulent. Amounts are extremely skewed, so we use log(1 +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GMM learns several profiles of legitimate spending. A transaction close to any profile gets a low score; one far from all of them gets a high score and moves up the queue. The cluster labels on the left are illustrative, because V1 to V28 are anonymised.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important lesson. Expectation-Maximisation can converge to different solutions from different starting points, and those solutions rank fraud very differently. Average precision ranges from 0.34 to 0.67 for the same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trusting one run, we searched K from 1 to 8 on two feature sets, three seeds each with five EM restarts. The winner was all 29 features with K=3, with the highest mean validation AP at 0.55.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A is the compliance view: how much fraud do we catch if we only annoy at most 0.5% of good customers? Three quarters of fraud, at 0.28%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B is the operations view. If the analyst opens only the top 50, 42 are genuine fraud. Picking at random would find fewer than one in ten shifts.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loop on the scenario. The system doesn't replace the analyst: it decides what they look at first. It is honest about its blind spot, which is fraud that mimics normal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lessons that apply beyond this project, to any rare-event detection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will reuse exactly the same data split, threshold rule and budgets, so the autoencoder can be compared fairly with this GMM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548640" y="2743200"/>
            <a:ext cx="8046720" cy="109728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STORY">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indent="0" marL="0">
              <a:buNone/>
              <a:defRPr lang="en-US" sz="3600" b="1" dirty="0">
                <a:solidFill>
                  <a:schemeClr val="tx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Catching Fraud It Has Never Seen</a:t>
            </a:r>
            <a:endParaRPr lang="en-US" sz="4000" dirty="0"/>
          </a:p>
        </p:txBody>
      </p:sp>
      <p:sp>
        <p:nvSpPr>
          <p:cNvPr id="3" name="Text 0"/>
          <p:cNvSpPr/>
          <p:nvPr>
            <p:ph idx="101" type="body" hasCustomPrompt="1"/>
          </p:nvPr>
        </p:nvSpPr>
        <p:spPr>
          <a:xfrm>
            <a:off x="548640" y="2743200"/>
            <a:ext cx="8046720" cy="1097280"/>
          </a:xfrm>
          <a:prstGeom prst="rect">
            <a:avLst/>
          </a:prstGeom>
          <a:noFill/>
          <a:ln/>
        </p:spPr>
        <p:txBody>
          <a:bodyPr wrap="square" lIns="0" tIns="0" rIns="0" bIns="0" rtlCol="0" anchor="t"/>
          <a:lstStyle/>
          <a:p>
            <a:pPr indent="0" marL="0">
              <a:buNone/>
            </a:pPr>
            <a:r>
              <a:rPr lang="en-US" sz="1600" dirty="0">
                <a:solidFill>
                  <a:schemeClr val="accent6"/>
                </a:solidFill>
              </a:rPr>
              <a:t>Card fraud triage with Gaussian Mixture density scoring</a:t>
            </a:r>
            <a:endParaRPr lang="en-US" sz="1600" dirty="0"/>
          </a:p>
          <a:p>
            <a:pPr indent="0" marL="0">
              <a:buNone/>
            </a:pPr>
            <a:r>
              <a:rPr lang="en-US" sz="1600" dirty="0">
                <a:solidFill>
                  <a:schemeClr val="accent6"/>
                </a:solidFill>
              </a:rPr>
              <a:t>Phase 1 · Team T047 · Project 26</a:t>
            </a:r>
            <a:endParaRPr lang="en-US" sz="1600" dirty="0"/>
          </a:p>
        </p:txBody>
      </p:sp>
      <p:pic>
        <p:nvPicPr>
          <p:cNvPr id="4" name="Card icon" descr="Credit card">    </p:cNvPr>
          <p:cNvPicPr>
            <a:picLocks noChangeAspect="1"/>
          </p:cNvPicPr>
          <p:nvPr/>
        </p:nvPicPr>
        <p:blipFill>
          <a:blip r:embed="rId1"/>
          <a:stretch>
            <a:fillRect/>
          </a:stretch>
        </p:blipFill>
        <p:spPr>
          <a:xfrm>
            <a:off x="7589520" y="50292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2:47 AM, a fraud analyst’s shift</a:t>
            </a:r>
            <a:endParaRPr lang="en-US" sz="3600" dirty="0"/>
          </a:p>
        </p:txBody>
      </p:sp>
      <p:sp>
        <p:nvSpPr>
          <p:cNvPr id="3" name="Scenario story"/>
          <p:cNvSpPr txBox="1"/>
          <p:nvPr/>
        </p:nvSpPr>
        <p:spPr>
          <a:xfrm>
            <a:off x="457200" y="1325880"/>
            <a:ext cx="4480560" cy="2743200"/>
          </a:xfrm>
          <a:prstGeom prst="rect">
            <a:avLst/>
          </a:prstGeom>
          <a:noFill/>
          <a:ln/>
        </p:spPr>
        <p:txBody>
          <a:bodyPr wrap="square" lIns="0" tIns="0" rIns="0" bIns="0" rtlCol="0" anchor="t"/>
          <a:lstStyle/>
          <a:p>
            <a:pPr indent="0" marL="0">
              <a:buNone/>
            </a:pPr>
            <a:r>
              <a:rPr lang="en-US" sz="1800" dirty="0">
                <a:solidFill>
                  <a:schemeClr val="bg1"/>
                </a:solidFill>
                <a:latin typeface="Calibri" pitchFamily="34" charset="0"/>
                <a:ea typeface="Calibri" pitchFamily="34" charset="-122"/>
                <a:cs typeface="Calibri" pitchFamily="34" charset="-120"/>
              </a:rPr>
              <a:t>A card used every day for groceries suddenly buys €1,890 of electronics online.</a:t>
            </a:r>
            <a:endParaRPr lang="en-US" sz="1800" dirty="0"/>
          </a:p>
          <a:p>
            <a:pPr indent="0" marL="0">
              <a:buNone/>
            </a:pPr>
            <a:r>
              <a:rPr lang="en-US" sz="800" dirty="0">
                <a:solidFill>
                  <a:schemeClr val="bg1"/>
                </a:solidFill>
                <a:latin typeface="Calibri" pitchFamily="34" charset="0"/>
                <a:ea typeface="Calibri" pitchFamily="34" charset="-122"/>
                <a:cs typeface="Calibri" pitchFamily="34" charset="-120"/>
              </a:rPr>
              <a:t> </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It is one of 56,746 transactions in the period. The analyst can open about 50 of them.</a:t>
            </a:r>
            <a:endParaRPr lang="en-US" sz="1800" dirty="0"/>
          </a:p>
          <a:p>
            <a:pPr indent="0" marL="0">
              <a:buNone/>
            </a:pPr>
            <a:r>
              <a:rPr lang="en-US" sz="800" dirty="0">
                <a:solidFill>
                  <a:schemeClr val="bg1"/>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chemeClr val="accent3"/>
                </a:solidFill>
                <a:latin typeface="Calibri" pitchFamily="34" charset="0"/>
                <a:ea typeface="Calibri" pitchFamily="34" charset="-122"/>
                <a:cs typeface="Calibri" pitchFamily="34" charset="-120"/>
              </a:rPr>
              <a:t>Which 50 should be at the top of the queue?</a:t>
            </a:r>
            <a:endParaRPr lang="en-US" sz="1800" dirty="0"/>
          </a:p>
        </p:txBody>
      </p:sp>
      <p:sp>
        <p:nvSpPr>
          <p:cNvPr id="4" name="Incoming box"/>
          <p:cNvSpPr/>
          <p:nvPr/>
        </p:nvSpPr>
        <p:spPr>
          <a:xfrm>
            <a:off x="5394960" y="1325880"/>
            <a:ext cx="3291840" cy="1051560"/>
          </a:xfrm>
          <a:prstGeom prst="roundRect">
            <a:avLst>
              <a:gd name="adj" fmla="val 10435"/>
            </a:avLst>
          </a:prstGeom>
          <a:solidFill>
            <a:schemeClr val="tx2"/>
          </a:solidFill>
          <a:ln w="12700">
            <a:solidFill>
              <a:schemeClr val="tx2"/>
            </a:solidFill>
            <a:prstDash val="solid"/>
          </a:ln>
        </p:spPr>
      </p:sp>
      <p:sp>
        <p:nvSpPr>
          <p:cNvPr id="5" name="Incoming text"/>
          <p:cNvSpPr txBox="1"/>
          <p:nvPr/>
        </p:nvSpPr>
        <p:spPr>
          <a:xfrm>
            <a:off x="5577840" y="1417320"/>
            <a:ext cx="2926080" cy="868680"/>
          </a:xfrm>
          <a:prstGeom prst="rect">
            <a:avLst/>
          </a:prstGeom>
          <a:noFill/>
          <a:ln/>
        </p:spPr>
        <p:txBody>
          <a:bodyPr wrap="square" lIns="0" tIns="0" rIns="0" bIns="0" rtlCol="0" anchor="t"/>
          <a:lstStyle/>
          <a:p>
            <a:pPr algn="ctr" indent="0" marL="0">
              <a:buNone/>
            </a:pPr>
            <a:r>
              <a:rPr lang="en-US" sz="3400" b="1" dirty="0">
                <a:solidFill>
                  <a:schemeClr val="bg1"/>
                </a:solidFill>
                <a:latin typeface="Calibri" pitchFamily="34" charset="0"/>
                <a:ea typeface="Calibri" pitchFamily="34" charset="-122"/>
                <a:cs typeface="Calibri" pitchFamily="34" charset="-120"/>
              </a:rPr>
              <a:t>56,746</a:t>
            </a:r>
            <a:endParaRPr lang="en-US" sz="3400" dirty="0"/>
          </a:p>
          <a:p>
            <a:pPr algn="ctr" indent="0" marL="0">
              <a:buNone/>
            </a:pPr>
            <a:r>
              <a:rPr lang="en-US" sz="1300" dirty="0">
                <a:solidFill>
                  <a:schemeClr val="accent6"/>
                </a:solidFill>
                <a:latin typeface="Calibri" pitchFamily="34" charset="0"/>
                <a:ea typeface="Calibri" pitchFamily="34" charset="-122"/>
                <a:cs typeface="Calibri" pitchFamily="34" charset="-120"/>
              </a:rPr>
              <a:t>transactions to judge</a:t>
            </a:r>
            <a:endParaRPr lang="en-US" sz="3400" dirty="0"/>
          </a:p>
        </p:txBody>
      </p:sp>
      <p:sp>
        <p:nvSpPr>
          <p:cNvPr id="6" name="Arrow"/>
          <p:cNvSpPr/>
          <p:nvPr/>
        </p:nvSpPr>
        <p:spPr>
          <a:xfrm>
            <a:off x="6812280" y="2514600"/>
            <a:ext cx="457200" cy="457200"/>
          </a:xfrm>
          <a:prstGeom prst="downArrow">
            <a:avLst/>
          </a:prstGeom>
          <a:solidFill>
            <a:schemeClr val="accent5"/>
          </a:solidFill>
          <a:ln w="12700">
            <a:solidFill>
              <a:schemeClr val="accent5"/>
            </a:solidFill>
            <a:prstDash val="solid"/>
          </a:ln>
        </p:spPr>
      </p:sp>
      <p:sp>
        <p:nvSpPr>
          <p:cNvPr id="7" name="Capacity box"/>
          <p:cNvSpPr/>
          <p:nvPr/>
        </p:nvSpPr>
        <p:spPr>
          <a:xfrm>
            <a:off x="5943600" y="3108960"/>
            <a:ext cx="2194560" cy="1051560"/>
          </a:xfrm>
          <a:prstGeom prst="roundRect">
            <a:avLst>
              <a:gd name="adj" fmla="val 10435"/>
            </a:avLst>
          </a:prstGeom>
          <a:solidFill>
            <a:schemeClr val="accent1"/>
          </a:solidFill>
          <a:ln w="12700">
            <a:solidFill>
              <a:schemeClr val="accent1"/>
            </a:solidFill>
            <a:prstDash val="solid"/>
          </a:ln>
        </p:spPr>
      </p:sp>
      <p:sp>
        <p:nvSpPr>
          <p:cNvPr id="8" name="Capacity text"/>
          <p:cNvSpPr txBox="1"/>
          <p:nvPr/>
        </p:nvSpPr>
        <p:spPr>
          <a:xfrm>
            <a:off x="5989320" y="3200400"/>
            <a:ext cx="2103120" cy="868680"/>
          </a:xfrm>
          <a:prstGeom prst="rect">
            <a:avLst/>
          </a:prstGeom>
          <a:noFill/>
          <a:ln/>
        </p:spPr>
        <p:txBody>
          <a:bodyPr wrap="square" lIns="0" tIns="0" rIns="0" bIns="0" rtlCol="0" anchor="t"/>
          <a:lstStyle/>
          <a:p>
            <a:pPr algn="ctr" indent="0" marL="0">
              <a:buNone/>
            </a:pPr>
            <a:r>
              <a:rPr lang="en-US" sz="3400" b="1" dirty="0">
                <a:solidFill>
                  <a:schemeClr val="bg1"/>
                </a:solidFill>
                <a:latin typeface="Calibri" pitchFamily="34" charset="0"/>
                <a:ea typeface="Calibri" pitchFamily="34" charset="-122"/>
                <a:cs typeface="Calibri" pitchFamily="34" charset="-120"/>
              </a:rPr>
              <a:t>~50</a:t>
            </a:r>
            <a:endParaRPr lang="en-US" sz="3400" dirty="0"/>
          </a:p>
          <a:p>
            <a:pPr algn="ctr" indent="0" marL="0">
              <a:buNone/>
            </a:pPr>
            <a:r>
              <a:rPr lang="en-US" sz="1200" dirty="0">
                <a:solidFill>
                  <a:schemeClr val="bg1"/>
                </a:solidFill>
                <a:latin typeface="Calibri" pitchFamily="34" charset="0"/>
                <a:ea typeface="Calibri" pitchFamily="34" charset="-122"/>
                <a:cs typeface="Calibri" pitchFamily="34" charset="-120"/>
              </a:rPr>
              <a:t>cases one analyst can review</a:t>
            </a:r>
            <a:endParaRPr lang="en-US" sz="3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Why this is hard</a:t>
            </a:r>
            <a:endParaRPr lang="en-US" sz="3600" dirty="0"/>
          </a:p>
        </p:txBody>
      </p:sp>
      <p:sp>
        <p:nvSpPr>
          <p:cNvPr id="3" name="Stat card 1"/>
          <p:cNvSpPr/>
          <p:nvPr/>
        </p:nvSpPr>
        <p:spPr>
          <a:xfrm>
            <a:off x="457200" y="1280160"/>
            <a:ext cx="2606040" cy="2377440"/>
          </a:xfrm>
          <a:prstGeom prst="roundRect">
            <a:avLst>
              <a:gd name="adj" fmla="val 3846"/>
            </a:avLst>
          </a:prstGeom>
          <a:solidFill>
            <a:schemeClr val="bg2"/>
          </a:solidFill>
          <a:ln w="12700">
            <a:solidFill>
              <a:schemeClr val="bg2"/>
            </a:solidFill>
            <a:prstDash val="solid"/>
          </a:ln>
        </p:spPr>
      </p:sp>
      <p:sp>
        <p:nvSpPr>
          <p:cNvPr id="4" name="Stat value 1"/>
          <p:cNvSpPr txBox="1"/>
          <p:nvPr/>
        </p:nvSpPr>
        <p:spPr>
          <a:xfrm>
            <a:off x="640080" y="1463040"/>
            <a:ext cx="2240280" cy="82296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0.17%</a:t>
            </a:r>
            <a:endParaRPr lang="en-US" sz="4000" dirty="0"/>
          </a:p>
        </p:txBody>
      </p:sp>
      <p:sp>
        <p:nvSpPr>
          <p:cNvPr id="5" name="Stat label 1"/>
          <p:cNvSpPr txBox="1"/>
          <p:nvPr/>
        </p:nvSpPr>
        <p:spPr>
          <a:xfrm>
            <a:off x="640080" y="2331720"/>
            <a:ext cx="2240280" cy="5486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of transactions are fraud</a:t>
            </a:r>
            <a:endParaRPr lang="en-US" sz="1600" dirty="0"/>
          </a:p>
        </p:txBody>
      </p:sp>
      <p:sp>
        <p:nvSpPr>
          <p:cNvPr id="6" name="Stat note 1"/>
          <p:cNvSpPr txBox="1"/>
          <p:nvPr/>
        </p:nvSpPr>
        <p:spPr>
          <a:xfrm>
            <a:off x="640080" y="2926080"/>
            <a:ext cx="2240280" cy="59436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492 of 284,807 in the dataset</a:t>
            </a:r>
            <a:endParaRPr lang="en-US" sz="1300" dirty="0"/>
          </a:p>
        </p:txBody>
      </p:sp>
      <p:sp>
        <p:nvSpPr>
          <p:cNvPr id="7" name="Stat card 2"/>
          <p:cNvSpPr/>
          <p:nvPr/>
        </p:nvSpPr>
        <p:spPr>
          <a:xfrm>
            <a:off x="3273552" y="1280160"/>
            <a:ext cx="2606040" cy="2377440"/>
          </a:xfrm>
          <a:prstGeom prst="roundRect">
            <a:avLst>
              <a:gd name="adj" fmla="val 3846"/>
            </a:avLst>
          </a:prstGeom>
          <a:solidFill>
            <a:schemeClr val="bg2"/>
          </a:solidFill>
          <a:ln w="12700">
            <a:solidFill>
              <a:schemeClr val="bg2"/>
            </a:solidFill>
            <a:prstDash val="solid"/>
          </a:ln>
        </p:spPr>
      </p:sp>
      <p:sp>
        <p:nvSpPr>
          <p:cNvPr id="8" name="Stat value 2"/>
          <p:cNvSpPr txBox="1"/>
          <p:nvPr/>
        </p:nvSpPr>
        <p:spPr>
          <a:xfrm>
            <a:off x="3456432" y="1463040"/>
            <a:ext cx="2240280"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99.8%</a:t>
            </a:r>
            <a:endParaRPr lang="en-US" sz="4000" dirty="0"/>
          </a:p>
        </p:txBody>
      </p:sp>
      <p:sp>
        <p:nvSpPr>
          <p:cNvPr id="9" name="Stat label 2"/>
          <p:cNvSpPr txBox="1"/>
          <p:nvPr/>
        </p:nvSpPr>
        <p:spPr>
          <a:xfrm>
            <a:off x="3456432" y="2331720"/>
            <a:ext cx="2240280" cy="5486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accuracy by doing nothing</a:t>
            </a:r>
            <a:endParaRPr lang="en-US" sz="1600" dirty="0"/>
          </a:p>
        </p:txBody>
      </p:sp>
      <p:sp>
        <p:nvSpPr>
          <p:cNvPr id="10" name="Stat note 2"/>
          <p:cNvSpPr txBox="1"/>
          <p:nvPr/>
        </p:nvSpPr>
        <p:spPr>
          <a:xfrm>
            <a:off x="3456432" y="2926080"/>
            <a:ext cx="2240280" cy="59436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“Approve everything” catches zero fraud</a:t>
            </a:r>
            <a:endParaRPr lang="en-US" sz="1300" dirty="0"/>
          </a:p>
        </p:txBody>
      </p:sp>
      <p:sp>
        <p:nvSpPr>
          <p:cNvPr id="11" name="Stat card 3"/>
          <p:cNvSpPr/>
          <p:nvPr/>
        </p:nvSpPr>
        <p:spPr>
          <a:xfrm>
            <a:off x="6089904" y="1280160"/>
            <a:ext cx="2606040" cy="2377440"/>
          </a:xfrm>
          <a:prstGeom prst="roundRect">
            <a:avLst>
              <a:gd name="adj" fmla="val 3846"/>
            </a:avLst>
          </a:prstGeom>
          <a:solidFill>
            <a:schemeClr val="bg2"/>
          </a:solidFill>
          <a:ln w="12700">
            <a:solidFill>
              <a:schemeClr val="bg2"/>
            </a:solidFill>
            <a:prstDash val="solid"/>
          </a:ln>
        </p:spPr>
      </p:sp>
      <p:sp>
        <p:nvSpPr>
          <p:cNvPr id="12" name="Stat value 3"/>
          <p:cNvSpPr txBox="1"/>
          <p:nvPr/>
        </p:nvSpPr>
        <p:spPr>
          <a:xfrm>
            <a:off x="6272784" y="1463040"/>
            <a:ext cx="2240280" cy="82296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1 in 1,000</a:t>
            </a:r>
            <a:endParaRPr lang="en-US" sz="4000" dirty="0"/>
          </a:p>
        </p:txBody>
      </p:sp>
      <p:sp>
        <p:nvSpPr>
          <p:cNvPr id="13" name="Stat label 3"/>
          <p:cNvSpPr txBox="1"/>
          <p:nvPr/>
        </p:nvSpPr>
        <p:spPr>
          <a:xfrm>
            <a:off x="6272784" y="2331720"/>
            <a:ext cx="2240280" cy="5486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random pick is fraud</a:t>
            </a:r>
            <a:endParaRPr lang="en-US" sz="1600" dirty="0"/>
          </a:p>
        </p:txBody>
      </p:sp>
      <p:sp>
        <p:nvSpPr>
          <p:cNvPr id="14" name="Stat note 3"/>
          <p:cNvSpPr txBox="1"/>
          <p:nvPr/>
        </p:nvSpPr>
        <p:spPr>
          <a:xfrm>
            <a:off x="6272784" y="2926080"/>
            <a:ext cx="2240280" cy="59436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A random queue of 50 finds almost none</a:t>
            </a:r>
            <a:endParaRPr lang="en-US" sz="1300" dirty="0"/>
          </a:p>
        </p:txBody>
      </p:sp>
      <p:sp>
        <p:nvSpPr>
          <p:cNvPr id="15" name="Takeaway"/>
          <p:cNvSpPr txBox="1"/>
          <p:nvPr/>
        </p:nvSpPr>
        <p:spPr>
          <a:xfrm>
            <a:off x="457200" y="3977640"/>
            <a:ext cx="8229600" cy="45720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So the real task is </a:t>
            </a:r>
            <a:pPr indent="0" marL="0">
              <a:buNone/>
            </a:pPr>
            <a:r>
              <a:rPr lang="en-US" sz="1800" b="1" dirty="0">
                <a:solidFill>
                  <a:schemeClr val="accent1"/>
                </a:solidFill>
                <a:latin typeface="Calibri" pitchFamily="34" charset="0"/>
                <a:ea typeface="Calibri" pitchFamily="34" charset="-122"/>
                <a:cs typeface="Calibri" pitchFamily="34" charset="-120"/>
              </a:rPr>
              <a:t>ranking</a:t>
            </a:r>
            <a:pPr indent="0" marL="0">
              <a:buNone/>
            </a:pPr>
            <a:r>
              <a:rPr lang="en-US" sz="1800" dirty="0">
                <a:solidFill>
                  <a:schemeClr val="tx1"/>
                </a:solidFill>
                <a:latin typeface="Calibri" pitchFamily="34" charset="0"/>
                <a:ea typeface="Calibri" pitchFamily="34" charset="-122"/>
                <a:cs typeface="Calibri" pitchFamily="34" charset="-120"/>
              </a:rPr>
              <a:t>, not yes/no classification: put the likeliest fraud first.</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Why learn “normal”, not “fraud”</a:t>
            </a:r>
            <a:endParaRPr lang="en-US" sz="3600" dirty="0"/>
          </a:p>
        </p:txBody>
      </p:sp>
      <p:sp>
        <p:nvSpPr>
          <p:cNvPr id="3" name="Classic classifier card"/>
          <p:cNvSpPr/>
          <p:nvPr/>
        </p:nvSpPr>
        <p:spPr>
          <a:xfrm>
            <a:off x="457200" y="1234440"/>
            <a:ext cx="4023360" cy="3246120"/>
          </a:xfrm>
          <a:prstGeom prst="roundRect">
            <a:avLst>
              <a:gd name="adj" fmla="val 2817"/>
            </a:avLst>
          </a:prstGeom>
          <a:solidFill>
            <a:schemeClr val="bg1"/>
          </a:solidFill>
          <a:ln w="12700">
            <a:solidFill>
              <a:schemeClr val="accent5"/>
            </a:solidFill>
            <a:prstDash val="solid"/>
          </a:ln>
        </p:spPr>
      </p:sp>
      <p:pic>
        <p:nvPicPr>
          <p:cNvPr id="4" name="Classic classifier icon" descr="Classic classifier">    </p:cNvPr>
          <p:cNvPicPr>
            <a:picLocks noChangeAspect="1"/>
          </p:cNvPicPr>
          <p:nvPr/>
        </p:nvPicPr>
        <p:blipFill>
          <a:blip r:embed="rId1"/>
          <a:stretch>
            <a:fillRect/>
          </a:stretch>
        </p:blipFill>
        <p:spPr>
          <a:xfrm>
            <a:off x="731520" y="1417320"/>
            <a:ext cx="457200" cy="457200"/>
          </a:xfrm>
          <a:prstGeom prst="rect">
            <a:avLst/>
          </a:prstGeom>
        </p:spPr>
      </p:pic>
      <p:sp>
        <p:nvSpPr>
          <p:cNvPr id="5" name="Classic classifier heading"/>
          <p:cNvSpPr txBox="1"/>
          <p:nvPr/>
        </p:nvSpPr>
        <p:spPr>
          <a:xfrm>
            <a:off x="1325880" y="1463040"/>
            <a:ext cx="30175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Classic classifier</a:t>
            </a:r>
            <a:endParaRPr lang="en-US" sz="1800" dirty="0"/>
          </a:p>
        </p:txBody>
      </p:sp>
      <p:sp>
        <p:nvSpPr>
          <p:cNvPr id="6" name="Classic classifier points"/>
          <p:cNvSpPr txBox="1"/>
          <p:nvPr/>
        </p:nvSpPr>
        <p:spPr>
          <a:xfrm>
            <a:off x="731520" y="2103120"/>
            <a:ext cx="352044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Needs many labelled frauds, and there are only a few hundred</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Labels arrive weeks later, after chargebacks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Learns yesterday’s fraud patterns, so new attacks can slip through</a:t>
            </a:r>
            <a:endParaRPr lang="en-US" sz="1500" dirty="0"/>
          </a:p>
        </p:txBody>
      </p:sp>
      <p:sp>
        <p:nvSpPr>
          <p:cNvPr id="7" name="Model of normal spending (ours) card"/>
          <p:cNvSpPr/>
          <p:nvPr/>
        </p:nvSpPr>
        <p:spPr>
          <a:xfrm>
            <a:off x="4663440" y="1234440"/>
            <a:ext cx="4023360" cy="3246120"/>
          </a:xfrm>
          <a:prstGeom prst="roundRect">
            <a:avLst>
              <a:gd name="adj" fmla="val 2817"/>
            </a:avLst>
          </a:prstGeom>
          <a:solidFill>
            <a:schemeClr val="bg2"/>
          </a:solidFill>
          <a:ln w="12700">
            <a:solidFill>
              <a:schemeClr val="accent2"/>
            </a:solidFill>
            <a:prstDash val="solid"/>
          </a:ln>
        </p:spPr>
      </p:sp>
      <p:pic>
        <p:nvPicPr>
          <p:cNvPr id="8" name="Model of normal spending (ours) icon" descr="Model of normal spending (ours)">    </p:cNvPr>
          <p:cNvPicPr>
            <a:picLocks noChangeAspect="1"/>
          </p:cNvPicPr>
          <p:nvPr/>
        </p:nvPicPr>
        <p:blipFill>
          <a:blip r:embed="rId2"/>
          <a:stretch>
            <a:fillRect/>
          </a:stretch>
        </p:blipFill>
        <p:spPr>
          <a:xfrm>
            <a:off x="4937760" y="1417320"/>
            <a:ext cx="457200" cy="457200"/>
          </a:xfrm>
          <a:prstGeom prst="rect">
            <a:avLst/>
          </a:prstGeom>
        </p:spPr>
      </p:pic>
      <p:sp>
        <p:nvSpPr>
          <p:cNvPr id="9" name="Model of normal spending (ours) heading"/>
          <p:cNvSpPr txBox="1"/>
          <p:nvPr/>
        </p:nvSpPr>
        <p:spPr>
          <a:xfrm>
            <a:off x="5532120" y="1463040"/>
            <a:ext cx="3017520" cy="411480"/>
          </a:xfrm>
          <a:prstGeom prst="rect">
            <a:avLst/>
          </a:prstGeom>
          <a:noFill/>
          <a:ln/>
        </p:spPr>
        <p:txBody>
          <a:bodyPr wrap="square" lIns="0" tIns="0" rIns="0" bIns="0" rtlCol="0" anchor="ctr"/>
          <a:lstStyle/>
          <a:p>
            <a:pPr indent="0" marL="0">
              <a:buNone/>
            </a:pPr>
            <a:r>
              <a:rPr lang="en-US" sz="1800" b="1" dirty="0">
                <a:solidFill>
                  <a:schemeClr val="accent2"/>
                </a:solidFill>
                <a:latin typeface="Calibri" pitchFamily="34" charset="0"/>
                <a:ea typeface="Calibri" pitchFamily="34" charset="-122"/>
                <a:cs typeface="Calibri" pitchFamily="34" charset="-120"/>
              </a:rPr>
              <a:t>Model of normal spending (ours)</a:t>
            </a:r>
            <a:endParaRPr lang="en-US" sz="1800" dirty="0"/>
          </a:p>
        </p:txBody>
      </p:sp>
      <p:sp>
        <p:nvSpPr>
          <p:cNvPr id="10" name="Model of normal spending (ours) points"/>
          <p:cNvSpPr txBox="1"/>
          <p:nvPr/>
        </p:nvSpPr>
        <p:spPr>
          <a:xfrm>
            <a:off x="4937760" y="2103120"/>
            <a:ext cx="352044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Trained only on legitimate transactions, which are plentiful</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Anything that looks unlike normal behaviour scores high</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New fraud types still look unusual, so they still get flagged</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Designed like a bank would deploy it</a:t>
            </a:r>
            <a:endParaRPr lang="en-US" sz="3600" dirty="0"/>
          </a:p>
        </p:txBody>
      </p:sp>
      <p:sp>
        <p:nvSpPr>
          <p:cNvPr id="3" name="Header constraint"/>
          <p:cNvSpPr txBox="1"/>
          <p:nvPr/>
        </p:nvSpPr>
        <p:spPr>
          <a:xfrm>
            <a:off x="1143000" y="1143000"/>
            <a:ext cx="3291840" cy="27432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Real-world constraint</a:t>
            </a:r>
            <a:endParaRPr lang="en-US" sz="1200" dirty="0"/>
          </a:p>
        </p:txBody>
      </p:sp>
      <p:sp>
        <p:nvSpPr>
          <p:cNvPr id="4" name="Header choice"/>
          <p:cNvSpPr txBox="1"/>
          <p:nvPr/>
        </p:nvSpPr>
        <p:spPr>
          <a:xfrm>
            <a:off x="4754880" y="1143000"/>
            <a:ext cx="3931920" cy="27432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Our design choice</a:t>
            </a:r>
            <a:endParaRPr lang="en-US" sz="1200" dirty="0"/>
          </a:p>
        </p:txBody>
      </p:sp>
      <p:sp>
        <p:nvSpPr>
          <p:cNvPr id="5" name="Constraint 1 circle"/>
          <p:cNvSpPr/>
          <p:nvPr/>
        </p:nvSpPr>
        <p:spPr>
          <a:xfrm>
            <a:off x="457200" y="1481328"/>
            <a:ext cx="548640" cy="548640"/>
          </a:xfrm>
          <a:prstGeom prst="ellipse">
            <a:avLst/>
          </a:prstGeom>
          <a:solidFill>
            <a:schemeClr val="tx2"/>
          </a:solidFill>
          <a:ln w="12700">
            <a:solidFill>
              <a:schemeClr val="tx2"/>
            </a:solidFill>
            <a:prstDash val="solid"/>
          </a:ln>
        </p:spPr>
      </p:sp>
      <p:pic>
        <p:nvPicPr>
          <p:cNvPr id="6" name="Constraint 1 icon" descr="Constraint 1">    </p:cNvPr>
          <p:cNvPicPr>
            <a:picLocks noChangeAspect="1"/>
          </p:cNvPicPr>
          <p:nvPr/>
        </p:nvPicPr>
        <p:blipFill>
          <a:blip r:embed="rId1"/>
          <a:stretch>
            <a:fillRect/>
          </a:stretch>
        </p:blipFill>
        <p:spPr>
          <a:xfrm>
            <a:off x="594360" y="1618488"/>
            <a:ext cx="274320" cy="274320"/>
          </a:xfrm>
          <a:prstGeom prst="rect">
            <a:avLst/>
          </a:prstGeom>
        </p:spPr>
      </p:pic>
      <p:sp>
        <p:nvSpPr>
          <p:cNvPr id="7" name="Constraint text 1"/>
          <p:cNvSpPr txBox="1"/>
          <p:nvPr/>
        </p:nvSpPr>
        <p:spPr>
          <a:xfrm>
            <a:off x="1143000" y="1481328"/>
            <a:ext cx="3291840" cy="54864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Models run on tomorrow’s transactions</a:t>
            </a:r>
            <a:endParaRPr lang="en-US" sz="1500" dirty="0"/>
          </a:p>
        </p:txBody>
      </p:sp>
      <p:sp>
        <p:nvSpPr>
          <p:cNvPr id="8" name="Arrow 1"/>
          <p:cNvSpPr/>
          <p:nvPr/>
        </p:nvSpPr>
        <p:spPr>
          <a:xfrm>
            <a:off x="4343400" y="1645920"/>
            <a:ext cx="274320" cy="228600"/>
          </a:xfrm>
          <a:prstGeom prst="rightArrow">
            <a:avLst/>
          </a:prstGeom>
          <a:solidFill>
            <a:schemeClr val="accent5"/>
          </a:solidFill>
          <a:ln w="12700">
            <a:solidFill>
              <a:schemeClr val="accent5"/>
            </a:solidFill>
            <a:prstDash val="solid"/>
          </a:ln>
        </p:spPr>
      </p:sp>
      <p:sp>
        <p:nvSpPr>
          <p:cNvPr id="9" name="Choice text 1"/>
          <p:cNvSpPr txBox="1"/>
          <p:nvPr/>
        </p:nvSpPr>
        <p:spPr>
          <a:xfrm>
            <a:off x="4754880" y="1481328"/>
            <a:ext cx="3931920" cy="54864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Split by time: train on the first 60%, test on the last 20%</a:t>
            </a:r>
            <a:endParaRPr lang="en-US" sz="1500" dirty="0"/>
          </a:p>
        </p:txBody>
      </p:sp>
      <p:sp>
        <p:nvSpPr>
          <p:cNvPr id="10" name="Constraint 2 circle"/>
          <p:cNvSpPr/>
          <p:nvPr/>
        </p:nvSpPr>
        <p:spPr>
          <a:xfrm>
            <a:off x="457200" y="2258568"/>
            <a:ext cx="548640" cy="548640"/>
          </a:xfrm>
          <a:prstGeom prst="ellipse">
            <a:avLst/>
          </a:prstGeom>
          <a:solidFill>
            <a:schemeClr val="tx2"/>
          </a:solidFill>
          <a:ln w="12700">
            <a:solidFill>
              <a:schemeClr val="tx2"/>
            </a:solidFill>
            <a:prstDash val="solid"/>
          </a:ln>
        </p:spPr>
      </p:sp>
      <p:pic>
        <p:nvPicPr>
          <p:cNvPr id="11" name="Constraint 2 icon" descr="Constraint 2">    </p:cNvPr>
          <p:cNvPicPr>
            <a:picLocks noChangeAspect="1"/>
          </p:cNvPicPr>
          <p:nvPr/>
        </p:nvPicPr>
        <p:blipFill>
          <a:blip r:embed="rId2"/>
          <a:stretch>
            <a:fillRect/>
          </a:stretch>
        </p:blipFill>
        <p:spPr>
          <a:xfrm>
            <a:off x="594360" y="2395728"/>
            <a:ext cx="274320" cy="274320"/>
          </a:xfrm>
          <a:prstGeom prst="rect">
            <a:avLst/>
          </a:prstGeom>
        </p:spPr>
      </p:pic>
      <p:sp>
        <p:nvSpPr>
          <p:cNvPr id="12" name="Constraint text 2"/>
          <p:cNvSpPr txBox="1"/>
          <p:nvPr/>
        </p:nvSpPr>
        <p:spPr>
          <a:xfrm>
            <a:off x="1143000" y="2258568"/>
            <a:ext cx="3291840" cy="54864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The model must not treat fraud as normal</a:t>
            </a:r>
            <a:endParaRPr lang="en-US" sz="1500" dirty="0"/>
          </a:p>
        </p:txBody>
      </p:sp>
      <p:sp>
        <p:nvSpPr>
          <p:cNvPr id="13" name="Arrow 2"/>
          <p:cNvSpPr/>
          <p:nvPr/>
        </p:nvSpPr>
        <p:spPr>
          <a:xfrm>
            <a:off x="4343400" y="2423160"/>
            <a:ext cx="274320" cy="228600"/>
          </a:xfrm>
          <a:prstGeom prst="rightArrow">
            <a:avLst/>
          </a:prstGeom>
          <a:solidFill>
            <a:schemeClr val="accent5"/>
          </a:solidFill>
          <a:ln w="12700">
            <a:solidFill>
              <a:schemeClr val="accent5"/>
            </a:solidFill>
            <a:prstDash val="solid"/>
          </a:ln>
        </p:spPr>
      </p:sp>
      <p:sp>
        <p:nvSpPr>
          <p:cNvPr id="14" name="Choice text 2"/>
          <p:cNvSpPr txBox="1"/>
          <p:nvPr/>
        </p:nvSpPr>
        <p:spPr>
          <a:xfrm>
            <a:off x="4754880" y="2258568"/>
            <a:ext cx="3931920" cy="54864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Remove all fraud from the training set</a:t>
            </a:r>
            <a:endParaRPr lang="en-US" sz="1500" dirty="0"/>
          </a:p>
        </p:txBody>
      </p:sp>
      <p:sp>
        <p:nvSpPr>
          <p:cNvPr id="15" name="Constraint 3 circle"/>
          <p:cNvSpPr/>
          <p:nvPr/>
        </p:nvSpPr>
        <p:spPr>
          <a:xfrm>
            <a:off x="457200" y="3035808"/>
            <a:ext cx="548640" cy="548640"/>
          </a:xfrm>
          <a:prstGeom prst="ellipse">
            <a:avLst/>
          </a:prstGeom>
          <a:solidFill>
            <a:schemeClr val="tx2"/>
          </a:solidFill>
          <a:ln w="12700">
            <a:solidFill>
              <a:schemeClr val="tx2"/>
            </a:solidFill>
            <a:prstDash val="solid"/>
          </a:ln>
        </p:spPr>
      </p:sp>
      <p:pic>
        <p:nvPicPr>
          <p:cNvPr id="16" name="Constraint 3 icon" descr="Constraint 3">    </p:cNvPr>
          <p:cNvPicPr>
            <a:picLocks noChangeAspect="1"/>
          </p:cNvPicPr>
          <p:nvPr/>
        </p:nvPicPr>
        <p:blipFill>
          <a:blip r:embed="rId3"/>
          <a:stretch>
            <a:fillRect/>
          </a:stretch>
        </p:blipFill>
        <p:spPr>
          <a:xfrm>
            <a:off x="594360" y="3172968"/>
            <a:ext cx="274320" cy="274320"/>
          </a:xfrm>
          <a:prstGeom prst="rect">
            <a:avLst/>
          </a:prstGeom>
        </p:spPr>
      </p:pic>
      <p:sp>
        <p:nvSpPr>
          <p:cNvPr id="17" name="Constraint text 3"/>
          <p:cNvSpPr txBox="1"/>
          <p:nvPr/>
        </p:nvSpPr>
        <p:spPr>
          <a:xfrm>
            <a:off x="1143000" y="3035808"/>
            <a:ext cx="3291840" cy="54864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Nobody can tune on the future</a:t>
            </a:r>
            <a:endParaRPr lang="en-US" sz="1500" dirty="0"/>
          </a:p>
        </p:txBody>
      </p:sp>
      <p:sp>
        <p:nvSpPr>
          <p:cNvPr id="18" name="Arrow 3"/>
          <p:cNvSpPr/>
          <p:nvPr/>
        </p:nvSpPr>
        <p:spPr>
          <a:xfrm>
            <a:off x="4343400" y="3200400"/>
            <a:ext cx="274320" cy="228600"/>
          </a:xfrm>
          <a:prstGeom prst="rightArrow">
            <a:avLst/>
          </a:prstGeom>
          <a:solidFill>
            <a:schemeClr val="accent5"/>
          </a:solidFill>
          <a:ln w="12700">
            <a:solidFill>
              <a:schemeClr val="accent5"/>
            </a:solidFill>
            <a:prstDash val="solid"/>
          </a:ln>
        </p:spPr>
      </p:sp>
      <p:sp>
        <p:nvSpPr>
          <p:cNvPr id="19" name="Choice text 3"/>
          <p:cNvSpPr txBox="1"/>
          <p:nvPr/>
        </p:nvSpPr>
        <p:spPr>
          <a:xfrm>
            <a:off x="4754880" y="3035808"/>
            <a:ext cx="3931920" cy="54864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Choose features, model and threshold on validation; test once</a:t>
            </a:r>
            <a:endParaRPr lang="en-US" sz="1500" dirty="0"/>
          </a:p>
        </p:txBody>
      </p:sp>
      <p:sp>
        <p:nvSpPr>
          <p:cNvPr id="20" name="Constraint 4 circle"/>
          <p:cNvSpPr/>
          <p:nvPr/>
        </p:nvSpPr>
        <p:spPr>
          <a:xfrm>
            <a:off x="457200" y="3813048"/>
            <a:ext cx="548640" cy="548640"/>
          </a:xfrm>
          <a:prstGeom prst="ellipse">
            <a:avLst/>
          </a:prstGeom>
          <a:solidFill>
            <a:schemeClr val="tx2"/>
          </a:solidFill>
          <a:ln w="12700">
            <a:solidFill>
              <a:schemeClr val="tx2"/>
            </a:solidFill>
            <a:prstDash val="solid"/>
          </a:ln>
        </p:spPr>
      </p:sp>
      <p:pic>
        <p:nvPicPr>
          <p:cNvPr id="21" name="Constraint 4 icon" descr="Constraint 4">    </p:cNvPr>
          <p:cNvPicPr>
            <a:picLocks noChangeAspect="1"/>
          </p:cNvPicPr>
          <p:nvPr/>
        </p:nvPicPr>
        <p:blipFill>
          <a:blip r:embed="rId4"/>
          <a:stretch>
            <a:fillRect/>
          </a:stretch>
        </p:blipFill>
        <p:spPr>
          <a:xfrm>
            <a:off x="594360" y="3950208"/>
            <a:ext cx="274320" cy="274320"/>
          </a:xfrm>
          <a:prstGeom prst="rect">
            <a:avLst/>
          </a:prstGeom>
        </p:spPr>
      </p:pic>
      <p:sp>
        <p:nvSpPr>
          <p:cNvPr id="22" name="Constraint text 4"/>
          <p:cNvSpPr txBox="1"/>
          <p:nvPr/>
        </p:nvSpPr>
        <p:spPr>
          <a:xfrm>
            <a:off x="1143000" y="3813048"/>
            <a:ext cx="3291840" cy="54864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Analysts have fixed budgets</a:t>
            </a:r>
            <a:endParaRPr lang="en-US" sz="1500" dirty="0"/>
          </a:p>
        </p:txBody>
      </p:sp>
      <p:sp>
        <p:nvSpPr>
          <p:cNvPr id="23" name="Arrow 4"/>
          <p:cNvSpPr/>
          <p:nvPr/>
        </p:nvSpPr>
        <p:spPr>
          <a:xfrm>
            <a:off x="4343400" y="3977640"/>
            <a:ext cx="274320" cy="228600"/>
          </a:xfrm>
          <a:prstGeom prst="rightArrow">
            <a:avLst/>
          </a:prstGeom>
          <a:solidFill>
            <a:schemeClr val="accent5"/>
          </a:solidFill>
          <a:ln w="12700">
            <a:solidFill>
              <a:schemeClr val="accent5"/>
            </a:solidFill>
            <a:prstDash val="solid"/>
          </a:ln>
        </p:spPr>
      </p:sp>
      <p:sp>
        <p:nvSpPr>
          <p:cNvPr id="24" name="Choice text 4"/>
          <p:cNvSpPr txBox="1"/>
          <p:nvPr/>
        </p:nvSpPr>
        <p:spPr>
          <a:xfrm>
            <a:off x="4754880" y="3813048"/>
            <a:ext cx="3931920" cy="54864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Judge at ≤ 0.5% false alarms and by precision in the top 25/50/100</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Four steps, four notebooks</a:t>
            </a:r>
            <a:endParaRPr lang="en-US" sz="3600" dirty="0"/>
          </a:p>
        </p:txBody>
      </p:sp>
      <p:sp>
        <p:nvSpPr>
          <p:cNvPr id="3" name="Step card 01"/>
          <p:cNvSpPr/>
          <p:nvPr/>
        </p:nvSpPr>
        <p:spPr>
          <a:xfrm>
            <a:off x="457200" y="1280160"/>
            <a:ext cx="1920240" cy="3108960"/>
          </a:xfrm>
          <a:prstGeom prst="roundRect">
            <a:avLst>
              <a:gd name="adj" fmla="val 4762"/>
            </a:avLst>
          </a:prstGeom>
          <a:solidFill>
            <a:schemeClr val="bg2"/>
          </a:solidFill>
          <a:ln w="12700">
            <a:solidFill>
              <a:schemeClr val="bg2"/>
            </a:solidFill>
            <a:prstDash val="solid"/>
          </a:ln>
        </p:spPr>
      </p:sp>
      <p:sp>
        <p:nvSpPr>
          <p:cNvPr id="4" name="Step 01 circle"/>
          <p:cNvSpPr/>
          <p:nvPr/>
        </p:nvSpPr>
        <p:spPr>
          <a:xfrm>
            <a:off x="640080" y="1463040"/>
            <a:ext cx="594360" cy="594360"/>
          </a:xfrm>
          <a:prstGeom prst="ellipse">
            <a:avLst/>
          </a:prstGeom>
          <a:solidFill>
            <a:schemeClr val="tx2"/>
          </a:solidFill>
          <a:ln w="12700">
            <a:solidFill>
              <a:schemeClr val="tx2"/>
            </a:solidFill>
            <a:prstDash val="solid"/>
          </a:ln>
        </p:spPr>
      </p:sp>
      <p:pic>
        <p:nvPicPr>
          <p:cNvPr id="5" name="Step 01 icon" descr="Step 01">    </p:cNvPr>
          <p:cNvPicPr>
            <a:picLocks noChangeAspect="1"/>
          </p:cNvPicPr>
          <p:nvPr/>
        </p:nvPicPr>
        <p:blipFill>
          <a:blip r:embed="rId1"/>
          <a:stretch>
            <a:fillRect/>
          </a:stretch>
        </p:blipFill>
        <p:spPr>
          <a:xfrm>
            <a:off x="788670" y="1611630"/>
            <a:ext cx="297180" cy="297180"/>
          </a:xfrm>
          <a:prstGeom prst="rect">
            <a:avLst/>
          </a:prstGeom>
        </p:spPr>
      </p:pic>
      <p:sp>
        <p:nvSpPr>
          <p:cNvPr id="6" name="Step number 01"/>
          <p:cNvSpPr txBox="1"/>
          <p:nvPr/>
        </p:nvSpPr>
        <p:spPr>
          <a:xfrm>
            <a:off x="1508760" y="1508760"/>
            <a:ext cx="731520" cy="502920"/>
          </a:xfrm>
          <a:prstGeom prst="rect">
            <a:avLst/>
          </a:prstGeom>
          <a:noFill/>
          <a:ln/>
        </p:spPr>
        <p:txBody>
          <a:bodyPr wrap="square" lIns="0" tIns="0" rIns="0" bIns="0" rtlCol="0" anchor="t"/>
          <a:lstStyle/>
          <a:p>
            <a:pPr algn="r" indent="0" marL="0">
              <a:buNone/>
            </a:pPr>
            <a:r>
              <a:rPr lang="en-US" sz="2600" b="1" dirty="0">
                <a:solidFill>
                  <a:schemeClr val="accent5"/>
                </a:solidFill>
                <a:latin typeface="Cambria" pitchFamily="34" charset="0"/>
                <a:ea typeface="Cambria" pitchFamily="34" charset="-122"/>
                <a:cs typeface="Cambria" pitchFamily="34" charset="-120"/>
              </a:rPr>
              <a:t>01</a:t>
            </a:r>
            <a:endParaRPr lang="en-US" sz="2600" dirty="0"/>
          </a:p>
        </p:txBody>
      </p:sp>
      <p:sp>
        <p:nvSpPr>
          <p:cNvPr id="7" name="Step title 01"/>
          <p:cNvSpPr txBox="1"/>
          <p:nvPr/>
        </p:nvSpPr>
        <p:spPr>
          <a:xfrm>
            <a:off x="640080" y="2240280"/>
            <a:ext cx="160020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Clean &amp; split</a:t>
            </a:r>
            <a:endParaRPr lang="en-US" sz="1800" dirty="0"/>
          </a:p>
        </p:txBody>
      </p:sp>
      <p:sp>
        <p:nvSpPr>
          <p:cNvPr id="8" name="Step body 01"/>
          <p:cNvSpPr txBox="1"/>
          <p:nvPr/>
        </p:nvSpPr>
        <p:spPr>
          <a:xfrm>
            <a:off x="640080" y="2697480"/>
            <a:ext cx="1600200" cy="16002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Remove 1,081 duplicates; 60/20/20 split by time; fraud removed from training</a:t>
            </a:r>
            <a:endParaRPr lang="en-US" sz="1300" dirty="0"/>
          </a:p>
        </p:txBody>
      </p:sp>
      <p:sp>
        <p:nvSpPr>
          <p:cNvPr id="9" name="Step card 02"/>
          <p:cNvSpPr/>
          <p:nvPr/>
        </p:nvSpPr>
        <p:spPr>
          <a:xfrm>
            <a:off x="2560320" y="1280160"/>
            <a:ext cx="1920240" cy="3108960"/>
          </a:xfrm>
          <a:prstGeom prst="roundRect">
            <a:avLst>
              <a:gd name="adj" fmla="val 4762"/>
            </a:avLst>
          </a:prstGeom>
          <a:solidFill>
            <a:schemeClr val="bg2"/>
          </a:solidFill>
          <a:ln w="12700">
            <a:solidFill>
              <a:schemeClr val="bg2"/>
            </a:solidFill>
            <a:prstDash val="solid"/>
          </a:ln>
        </p:spPr>
      </p:sp>
      <p:sp>
        <p:nvSpPr>
          <p:cNvPr id="10" name="Step 02 circle"/>
          <p:cNvSpPr/>
          <p:nvPr/>
        </p:nvSpPr>
        <p:spPr>
          <a:xfrm>
            <a:off x="2743200" y="1463040"/>
            <a:ext cx="594360" cy="594360"/>
          </a:xfrm>
          <a:prstGeom prst="ellipse">
            <a:avLst/>
          </a:prstGeom>
          <a:solidFill>
            <a:schemeClr val="tx2"/>
          </a:solidFill>
          <a:ln w="12700">
            <a:solidFill>
              <a:schemeClr val="tx2"/>
            </a:solidFill>
            <a:prstDash val="solid"/>
          </a:ln>
        </p:spPr>
      </p:sp>
      <p:pic>
        <p:nvPicPr>
          <p:cNvPr id="11" name="Step 02 icon" descr="Step 02">    </p:cNvPr>
          <p:cNvPicPr>
            <a:picLocks noChangeAspect="1"/>
          </p:cNvPicPr>
          <p:nvPr/>
        </p:nvPicPr>
        <p:blipFill>
          <a:blip r:embed="rId2"/>
          <a:stretch>
            <a:fillRect/>
          </a:stretch>
        </p:blipFill>
        <p:spPr>
          <a:xfrm>
            <a:off x="2891790" y="1611630"/>
            <a:ext cx="297180" cy="297180"/>
          </a:xfrm>
          <a:prstGeom prst="rect">
            <a:avLst/>
          </a:prstGeom>
        </p:spPr>
      </p:pic>
      <p:sp>
        <p:nvSpPr>
          <p:cNvPr id="12" name="Step number 02"/>
          <p:cNvSpPr txBox="1"/>
          <p:nvPr/>
        </p:nvSpPr>
        <p:spPr>
          <a:xfrm>
            <a:off x="3611880" y="1508760"/>
            <a:ext cx="731520" cy="502920"/>
          </a:xfrm>
          <a:prstGeom prst="rect">
            <a:avLst/>
          </a:prstGeom>
          <a:noFill/>
          <a:ln/>
        </p:spPr>
        <p:txBody>
          <a:bodyPr wrap="square" lIns="0" tIns="0" rIns="0" bIns="0" rtlCol="0" anchor="t"/>
          <a:lstStyle/>
          <a:p>
            <a:pPr algn="r" indent="0" marL="0">
              <a:buNone/>
            </a:pPr>
            <a:r>
              <a:rPr lang="en-US" sz="2600" b="1" dirty="0">
                <a:solidFill>
                  <a:schemeClr val="accent5"/>
                </a:solidFill>
                <a:latin typeface="Cambria" pitchFamily="34" charset="0"/>
                <a:ea typeface="Cambria" pitchFamily="34" charset="-122"/>
                <a:cs typeface="Cambria" pitchFamily="34" charset="-120"/>
              </a:rPr>
              <a:t>02</a:t>
            </a:r>
            <a:endParaRPr lang="en-US" sz="2600" dirty="0"/>
          </a:p>
        </p:txBody>
      </p:sp>
      <p:sp>
        <p:nvSpPr>
          <p:cNvPr id="13" name="Step title 02"/>
          <p:cNvSpPr txBox="1"/>
          <p:nvPr/>
        </p:nvSpPr>
        <p:spPr>
          <a:xfrm>
            <a:off x="2743200" y="2240280"/>
            <a:ext cx="160020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Explore</a:t>
            </a:r>
            <a:endParaRPr lang="en-US" sz="1800" dirty="0"/>
          </a:p>
        </p:txBody>
      </p:sp>
      <p:sp>
        <p:nvSpPr>
          <p:cNvPr id="14" name="Step body 02"/>
          <p:cNvSpPr txBox="1"/>
          <p:nvPr/>
        </p:nvSpPr>
        <p:spPr>
          <a:xfrm>
            <a:off x="2743200" y="2697480"/>
            <a:ext cx="1600200" cy="16002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Training period only: log-transform amounts, rank features by separation</a:t>
            </a:r>
            <a:endParaRPr lang="en-US" sz="1300" dirty="0"/>
          </a:p>
        </p:txBody>
      </p:sp>
      <p:sp>
        <p:nvSpPr>
          <p:cNvPr id="15" name="Step card 03"/>
          <p:cNvSpPr/>
          <p:nvPr/>
        </p:nvSpPr>
        <p:spPr>
          <a:xfrm>
            <a:off x="4663440" y="1280160"/>
            <a:ext cx="1920240" cy="3108960"/>
          </a:xfrm>
          <a:prstGeom prst="roundRect">
            <a:avLst>
              <a:gd name="adj" fmla="val 4762"/>
            </a:avLst>
          </a:prstGeom>
          <a:solidFill>
            <a:schemeClr val="bg2"/>
          </a:solidFill>
          <a:ln w="12700">
            <a:solidFill>
              <a:schemeClr val="bg2"/>
            </a:solidFill>
            <a:prstDash val="solid"/>
          </a:ln>
        </p:spPr>
      </p:sp>
      <p:sp>
        <p:nvSpPr>
          <p:cNvPr id="16" name="Step 03 circle"/>
          <p:cNvSpPr/>
          <p:nvPr/>
        </p:nvSpPr>
        <p:spPr>
          <a:xfrm>
            <a:off x="4846320" y="1463040"/>
            <a:ext cx="594360" cy="594360"/>
          </a:xfrm>
          <a:prstGeom prst="ellipse">
            <a:avLst/>
          </a:prstGeom>
          <a:solidFill>
            <a:schemeClr val="accent1"/>
          </a:solidFill>
          <a:ln w="12700">
            <a:solidFill>
              <a:schemeClr val="accent1"/>
            </a:solidFill>
            <a:prstDash val="solid"/>
          </a:ln>
        </p:spPr>
      </p:sp>
      <p:pic>
        <p:nvPicPr>
          <p:cNvPr id="17" name="Step 03 icon" descr="Step 03">    </p:cNvPr>
          <p:cNvPicPr>
            <a:picLocks noChangeAspect="1"/>
          </p:cNvPicPr>
          <p:nvPr/>
        </p:nvPicPr>
        <p:blipFill>
          <a:blip r:embed="rId3"/>
          <a:stretch>
            <a:fillRect/>
          </a:stretch>
        </p:blipFill>
        <p:spPr>
          <a:xfrm>
            <a:off x="4994910" y="1611630"/>
            <a:ext cx="297180" cy="297180"/>
          </a:xfrm>
          <a:prstGeom prst="rect">
            <a:avLst/>
          </a:prstGeom>
        </p:spPr>
      </p:pic>
      <p:sp>
        <p:nvSpPr>
          <p:cNvPr id="18" name="Step number 03"/>
          <p:cNvSpPr txBox="1"/>
          <p:nvPr/>
        </p:nvSpPr>
        <p:spPr>
          <a:xfrm>
            <a:off x="5715000" y="1508760"/>
            <a:ext cx="731520" cy="502920"/>
          </a:xfrm>
          <a:prstGeom prst="rect">
            <a:avLst/>
          </a:prstGeom>
          <a:noFill/>
          <a:ln/>
        </p:spPr>
        <p:txBody>
          <a:bodyPr wrap="square" lIns="0" tIns="0" rIns="0" bIns="0" rtlCol="0" anchor="t"/>
          <a:lstStyle/>
          <a:p>
            <a:pPr algn="r" indent="0" marL="0">
              <a:buNone/>
            </a:pPr>
            <a:r>
              <a:rPr lang="en-US" sz="2600" b="1" dirty="0">
                <a:solidFill>
                  <a:schemeClr val="accent5"/>
                </a:solidFill>
                <a:latin typeface="Cambria" pitchFamily="34" charset="0"/>
                <a:ea typeface="Cambria" pitchFamily="34" charset="-122"/>
                <a:cs typeface="Cambria" pitchFamily="34" charset="-120"/>
              </a:rPr>
              <a:t>03</a:t>
            </a:r>
            <a:endParaRPr lang="en-US" sz="2600" dirty="0"/>
          </a:p>
        </p:txBody>
      </p:sp>
      <p:sp>
        <p:nvSpPr>
          <p:cNvPr id="19" name="Step title 03"/>
          <p:cNvSpPr txBox="1"/>
          <p:nvPr/>
        </p:nvSpPr>
        <p:spPr>
          <a:xfrm>
            <a:off x="4846320" y="2240280"/>
            <a:ext cx="160020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Model</a:t>
            </a:r>
            <a:endParaRPr lang="en-US" sz="1800" dirty="0"/>
          </a:p>
        </p:txBody>
      </p:sp>
      <p:sp>
        <p:nvSpPr>
          <p:cNvPr id="20" name="Step body 03"/>
          <p:cNvSpPr txBox="1"/>
          <p:nvPr/>
        </p:nvSpPr>
        <p:spPr>
          <a:xfrm>
            <a:off x="4846320" y="2697480"/>
            <a:ext cx="1600200" cy="16002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GMM with 1–8 components, 2 feature sets, 3 seeds each: 144 fits</a:t>
            </a:r>
            <a:endParaRPr lang="en-US" sz="1300" dirty="0"/>
          </a:p>
        </p:txBody>
      </p:sp>
      <p:sp>
        <p:nvSpPr>
          <p:cNvPr id="21" name="Step card 04"/>
          <p:cNvSpPr/>
          <p:nvPr/>
        </p:nvSpPr>
        <p:spPr>
          <a:xfrm>
            <a:off x="6766560" y="1280160"/>
            <a:ext cx="1920240" cy="3108960"/>
          </a:xfrm>
          <a:prstGeom prst="roundRect">
            <a:avLst>
              <a:gd name="adj" fmla="val 4762"/>
            </a:avLst>
          </a:prstGeom>
          <a:solidFill>
            <a:schemeClr val="bg2"/>
          </a:solidFill>
          <a:ln w="12700">
            <a:solidFill>
              <a:schemeClr val="bg2"/>
            </a:solidFill>
            <a:prstDash val="solid"/>
          </a:ln>
        </p:spPr>
      </p:sp>
      <p:sp>
        <p:nvSpPr>
          <p:cNvPr id="22" name="Step 04 circle"/>
          <p:cNvSpPr/>
          <p:nvPr/>
        </p:nvSpPr>
        <p:spPr>
          <a:xfrm>
            <a:off x="6949440" y="1463040"/>
            <a:ext cx="594360" cy="594360"/>
          </a:xfrm>
          <a:prstGeom prst="ellipse">
            <a:avLst/>
          </a:prstGeom>
          <a:solidFill>
            <a:schemeClr val="tx2"/>
          </a:solidFill>
          <a:ln w="12700">
            <a:solidFill>
              <a:schemeClr val="tx2"/>
            </a:solidFill>
            <a:prstDash val="solid"/>
          </a:ln>
        </p:spPr>
      </p:sp>
      <p:pic>
        <p:nvPicPr>
          <p:cNvPr id="23" name="Step 04 icon" descr="Step 04">    </p:cNvPr>
          <p:cNvPicPr>
            <a:picLocks noChangeAspect="1"/>
          </p:cNvPicPr>
          <p:nvPr/>
        </p:nvPicPr>
        <p:blipFill>
          <a:blip r:embed="rId4"/>
          <a:stretch>
            <a:fillRect/>
          </a:stretch>
        </p:blipFill>
        <p:spPr>
          <a:xfrm>
            <a:off x="7098030" y="1611630"/>
            <a:ext cx="297180" cy="297180"/>
          </a:xfrm>
          <a:prstGeom prst="rect">
            <a:avLst/>
          </a:prstGeom>
        </p:spPr>
      </p:pic>
      <p:sp>
        <p:nvSpPr>
          <p:cNvPr id="24" name="Step number 04"/>
          <p:cNvSpPr txBox="1"/>
          <p:nvPr/>
        </p:nvSpPr>
        <p:spPr>
          <a:xfrm>
            <a:off x="7818120" y="1508760"/>
            <a:ext cx="731520" cy="502920"/>
          </a:xfrm>
          <a:prstGeom prst="rect">
            <a:avLst/>
          </a:prstGeom>
          <a:noFill/>
          <a:ln/>
        </p:spPr>
        <p:txBody>
          <a:bodyPr wrap="square" lIns="0" tIns="0" rIns="0" bIns="0" rtlCol="0" anchor="t"/>
          <a:lstStyle/>
          <a:p>
            <a:pPr algn="r" indent="0" marL="0">
              <a:buNone/>
            </a:pPr>
            <a:r>
              <a:rPr lang="en-US" sz="2600" b="1" dirty="0">
                <a:solidFill>
                  <a:schemeClr val="accent5"/>
                </a:solidFill>
                <a:latin typeface="Cambria" pitchFamily="34" charset="0"/>
                <a:ea typeface="Cambria" pitchFamily="34" charset="-122"/>
                <a:cs typeface="Cambria" pitchFamily="34" charset="-120"/>
              </a:rPr>
              <a:t>04</a:t>
            </a:r>
            <a:endParaRPr lang="en-US" sz="2600" dirty="0"/>
          </a:p>
        </p:txBody>
      </p:sp>
      <p:sp>
        <p:nvSpPr>
          <p:cNvPr id="25" name="Step title 04"/>
          <p:cNvSpPr txBox="1"/>
          <p:nvPr/>
        </p:nvSpPr>
        <p:spPr>
          <a:xfrm>
            <a:off x="6949440" y="2240280"/>
            <a:ext cx="160020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Evaluate</a:t>
            </a:r>
            <a:endParaRPr lang="en-US" sz="1800" dirty="0"/>
          </a:p>
        </p:txBody>
      </p:sp>
      <p:sp>
        <p:nvSpPr>
          <p:cNvPr id="26" name="Step body 04"/>
          <p:cNvSpPr txBox="1"/>
          <p:nvPr/>
        </p:nvSpPr>
        <p:spPr>
          <a:xfrm>
            <a:off x="6949440" y="2697480"/>
            <a:ext cx="1600200" cy="16002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Fix threshold on validation, score the test set once, add confidence intervals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Fraud keeps different hours</a:t>
            </a:r>
            <a:endParaRPr lang="en-US" sz="3600" dirty="0"/>
          </a:p>
        </p:txBody>
      </p:sp>
      <p:graphicFrame>
        <p:nvGraphicFramePr>
          <p:cNvPr id="3" name="Hourly fraud rate chart" descr="Fraud rate by hour, peaking at 1.45% at 2 AM"/>
          <p:cNvGraphicFramePr/>
          <p:nvPr/>
        </p:nvGraphicFramePr>
        <p:xfrm>
          <a:off x="365760" y="1143000"/>
          <a:ext cx="5394960" cy="3429000"/>
        </p:xfrm>
        <a:graphic xmlns:a="http://schemas.openxmlformats.org/drawingml/2006/main">
          <a:graphicData uri="http://schemas.openxmlformats.org/drawingml/2006/chart">
            <c:chart xmlns:c="http://schemas.openxmlformats.org/drawingml/2006/chart" r:id="rId1"/>
          </a:graphicData>
        </a:graphic>
      </p:graphicFrame>
      <p:sp>
        <p:nvSpPr>
          <p:cNvPr id="4" name="Night stat"/>
          <p:cNvSpPr txBox="1"/>
          <p:nvPr/>
        </p:nvSpPr>
        <p:spPr>
          <a:xfrm>
            <a:off x="6035040" y="1234440"/>
            <a:ext cx="2743200" cy="14630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1.45%</a:t>
            </a:r>
            <a:endParaRPr lang="en-US" sz="4000" dirty="0"/>
          </a:p>
          <a:p>
            <a:pPr indent="0" marL="0">
              <a:buNone/>
            </a:pPr>
            <a:r>
              <a:rPr lang="en-US" sz="1500" dirty="0">
                <a:solidFill>
                  <a:schemeClr val="tx1"/>
                </a:solidFill>
                <a:latin typeface="Calibri" pitchFamily="34" charset="0"/>
                <a:ea typeface="Calibri" pitchFamily="34" charset="-122"/>
                <a:cs typeface="Calibri" pitchFamily="34" charset="-120"/>
              </a:rPr>
              <a:t>of 2 AM transactions are fraud, about 10× the daytime rate</a:t>
            </a:r>
            <a:endParaRPr lang="en-US" sz="4000" dirty="0"/>
          </a:p>
        </p:txBody>
      </p:sp>
      <p:sp>
        <p:nvSpPr>
          <p:cNvPr id="5" name="Amount stat"/>
          <p:cNvSpPr txBox="1"/>
          <p:nvPr/>
        </p:nvSpPr>
        <p:spPr>
          <a:xfrm>
            <a:off x="6035040" y="2880360"/>
            <a:ext cx="2743200" cy="155448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15.8 → 0.16</a:t>
            </a:r>
            <a:endParaRPr lang="en-US" sz="2800" dirty="0"/>
          </a:p>
          <a:p>
            <a:pPr indent="0" marL="0">
              <a:buNone/>
            </a:pPr>
            <a:r>
              <a:rPr lang="en-US" sz="1400" dirty="0">
                <a:solidFill>
                  <a:schemeClr val="tx1"/>
                </a:solidFill>
                <a:latin typeface="Calibri" pitchFamily="34" charset="0"/>
                <a:ea typeface="Calibri" pitchFamily="34" charset="-122"/>
                <a:cs typeface="Calibri" pitchFamily="34" charset="-120"/>
              </a:rPr>
              <a:t>skewness of Amount before and after a log transform, so the model sees well-behaved inputs</a:t>
            </a: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Normal customers aren’t one shape</a:t>
            </a:r>
            <a:endParaRPr lang="en-US" sz="3600" dirty="0"/>
          </a:p>
        </p:txBody>
      </p:sp>
      <p:sp>
        <p:nvSpPr>
          <p:cNvPr id="3" name="Illustration panel"/>
          <p:cNvSpPr/>
          <p:nvPr/>
        </p:nvSpPr>
        <p:spPr>
          <a:xfrm>
            <a:off x="457200" y="1188720"/>
            <a:ext cx="4206240" cy="3291840"/>
          </a:xfrm>
          <a:prstGeom prst="rect">
            <a:avLst/>
          </a:prstGeom>
          <a:solidFill>
            <a:schemeClr val="bg2"/>
          </a:solidFill>
          <a:ln w="12700">
            <a:solidFill>
              <a:schemeClr val="bg2"/>
            </a:solidFill>
            <a:prstDash val="solid"/>
          </a:ln>
        </p:spPr>
      </p:sp>
      <p:sp>
        <p:nvSpPr>
          <p:cNvPr id="4" name="Cluster 1"/>
          <p:cNvSpPr/>
          <p:nvPr/>
        </p:nvSpPr>
        <p:spPr>
          <a:xfrm>
            <a:off x="822960" y="1508760"/>
            <a:ext cx="1737360" cy="1097280"/>
          </a:xfrm>
          <a:prstGeom prst="ellipse">
            <a:avLst/>
          </a:prstGeom>
          <a:solidFill>
            <a:srgbClr val="2A9D8F">
              <a:alpha val="30000"/>
            </a:srgbClr>
          </a:solidFill>
          <a:ln w="19050">
            <a:solidFill>
              <a:schemeClr val="accent2"/>
            </a:solidFill>
            <a:prstDash val="solid"/>
          </a:ln>
        </p:spPr>
      </p:sp>
      <p:sp>
        <p:nvSpPr>
          <p:cNvPr id="5" name="Cluster label 1"/>
          <p:cNvSpPr txBox="1"/>
          <p:nvPr/>
        </p:nvSpPr>
        <p:spPr>
          <a:xfrm>
            <a:off x="822960" y="1901952"/>
            <a:ext cx="173736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Everyday spending</a:t>
            </a:r>
            <a:endParaRPr lang="en-US" sz="1200" dirty="0"/>
          </a:p>
        </p:txBody>
      </p:sp>
      <p:sp>
        <p:nvSpPr>
          <p:cNvPr id="6" name="Cluster 2"/>
          <p:cNvSpPr/>
          <p:nvPr/>
        </p:nvSpPr>
        <p:spPr>
          <a:xfrm>
            <a:off x="2514600" y="2606040"/>
            <a:ext cx="1737360" cy="1051560"/>
          </a:xfrm>
          <a:prstGeom prst="ellipse">
            <a:avLst/>
          </a:prstGeom>
          <a:solidFill>
            <a:srgbClr val="2A9D8F">
              <a:alpha val="30000"/>
            </a:srgbClr>
          </a:solidFill>
          <a:ln w="19050">
            <a:solidFill>
              <a:schemeClr val="accent2"/>
            </a:solidFill>
            <a:prstDash val="solid"/>
          </a:ln>
        </p:spPr>
      </p:sp>
      <p:sp>
        <p:nvSpPr>
          <p:cNvPr id="7" name="Cluster label 2"/>
          <p:cNvSpPr txBox="1"/>
          <p:nvPr/>
        </p:nvSpPr>
        <p:spPr>
          <a:xfrm>
            <a:off x="2514600" y="2976372"/>
            <a:ext cx="173736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Regular bills</a:t>
            </a:r>
            <a:endParaRPr lang="en-US" sz="1200" dirty="0"/>
          </a:p>
        </p:txBody>
      </p:sp>
      <p:sp>
        <p:nvSpPr>
          <p:cNvPr id="8" name="Cluster 3"/>
          <p:cNvSpPr/>
          <p:nvPr/>
        </p:nvSpPr>
        <p:spPr>
          <a:xfrm>
            <a:off x="777240" y="3017520"/>
            <a:ext cx="1371600" cy="914400"/>
          </a:xfrm>
          <a:prstGeom prst="ellipse">
            <a:avLst/>
          </a:prstGeom>
          <a:solidFill>
            <a:srgbClr val="2A9D8F">
              <a:alpha val="30000"/>
            </a:srgbClr>
          </a:solidFill>
          <a:ln w="19050">
            <a:solidFill>
              <a:schemeClr val="accent2"/>
            </a:solidFill>
            <a:prstDash val="solid"/>
          </a:ln>
        </p:spPr>
      </p:sp>
      <p:sp>
        <p:nvSpPr>
          <p:cNvPr id="9" name="Cluster label 3"/>
          <p:cNvSpPr txBox="1"/>
          <p:nvPr/>
        </p:nvSpPr>
        <p:spPr>
          <a:xfrm>
            <a:off x="777240" y="3319272"/>
            <a:ext cx="137160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Occasional big buys</a:t>
            </a:r>
            <a:endParaRPr lang="en-US" sz="1200" dirty="0"/>
          </a:p>
        </p:txBody>
      </p:sp>
      <p:sp>
        <p:nvSpPr>
          <p:cNvPr id="10" name="Outlier point"/>
          <p:cNvSpPr/>
          <p:nvPr/>
        </p:nvSpPr>
        <p:spPr>
          <a:xfrm>
            <a:off x="3886200" y="1463040"/>
            <a:ext cx="292608" cy="292608"/>
          </a:xfrm>
          <a:prstGeom prst="ellipse">
            <a:avLst/>
          </a:prstGeom>
          <a:solidFill>
            <a:schemeClr val="accent1"/>
          </a:solidFill>
          <a:ln w="12700">
            <a:solidFill>
              <a:schemeClr val="accent1"/>
            </a:solidFill>
            <a:prstDash val="solid"/>
          </a:ln>
        </p:spPr>
      </p:sp>
      <p:sp>
        <p:nvSpPr>
          <p:cNvPr id="11" name="Outlier label"/>
          <p:cNvSpPr txBox="1"/>
          <p:nvPr/>
        </p:nvSpPr>
        <p:spPr>
          <a:xfrm>
            <a:off x="2743200" y="1810512"/>
            <a:ext cx="1783080" cy="274320"/>
          </a:xfrm>
          <a:prstGeom prst="rect">
            <a:avLst/>
          </a:prstGeom>
          <a:noFill/>
          <a:ln/>
        </p:spPr>
        <p:txBody>
          <a:bodyPr wrap="square" lIns="0" tIns="0" rIns="0" bIns="0" rtlCol="0" anchor="t"/>
          <a:lstStyle/>
          <a:p>
            <a:pPr algn="r" indent="0" marL="0">
              <a:buNone/>
            </a:pPr>
            <a:r>
              <a:rPr lang="en-US" sz="1200" b="1" dirty="0">
                <a:solidFill>
                  <a:schemeClr val="accent1"/>
                </a:solidFill>
                <a:latin typeface="Calibri" pitchFamily="34" charset="0"/>
                <a:ea typeface="Calibri" pitchFamily="34" charset="-122"/>
                <a:cs typeface="Calibri" pitchFamily="34" charset="-120"/>
              </a:rPr>
              <a:t>€1,890 at 2:47 AM</a:t>
            </a:r>
            <a:endParaRPr lang="en-US" sz="1200" dirty="0"/>
          </a:p>
        </p:txBody>
      </p:sp>
      <p:sp>
        <p:nvSpPr>
          <p:cNvPr id="12" name="Illustration note"/>
          <p:cNvSpPr txBox="1"/>
          <p:nvPr/>
        </p:nvSpPr>
        <p:spPr>
          <a:xfrm>
            <a:off x="548640" y="4160520"/>
            <a:ext cx="2743200" cy="274320"/>
          </a:xfrm>
          <a:prstGeom prst="rect">
            <a:avLst/>
          </a:prstGeom>
          <a:noFill/>
          <a:ln/>
        </p:spPr>
        <p:txBody>
          <a:bodyPr wrap="square" lIns="0" tIns="0" rIns="0" bIns="0" rtlCol="0" anchor="t"/>
          <a:lstStyle/>
          <a:p>
            <a:pPr indent="0" marL="0">
              <a:buNone/>
            </a:pPr>
            <a:r>
              <a:rPr lang="en-US" sz="1000" i="1" dirty="0">
                <a:solidFill>
                  <a:schemeClr val="accent4"/>
                </a:solidFill>
                <a:latin typeface="Calibri" pitchFamily="34" charset="0"/>
                <a:ea typeface="Calibri" pitchFamily="34" charset="-122"/>
                <a:cs typeface="Calibri" pitchFamily="34" charset="-120"/>
              </a:rPr>
              <a:t>Illustration, not real clusters</a:t>
            </a:r>
            <a:endParaRPr lang="en-US" sz="1000" dirty="0"/>
          </a:p>
        </p:txBody>
      </p:sp>
      <p:sp>
        <p:nvSpPr>
          <p:cNvPr id="13" name="Mixture explanation"/>
          <p:cNvSpPr txBox="1"/>
          <p:nvPr/>
        </p:nvSpPr>
        <p:spPr>
          <a:xfrm>
            <a:off x="4983480" y="1234440"/>
            <a:ext cx="3703320" cy="3200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 Gaussian Mixture Model describes normal behaviour as several overlapping groups, not one bell curve.</a:t>
            </a:r>
            <a:endParaRPr lang="en-US" sz="15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500" dirty="0"/>
          </a:p>
          <a:p>
            <a:pPr indent="0" marL="0">
              <a:buNone/>
            </a:pPr>
            <a:r>
              <a:rPr lang="en-US" sz="1500" dirty="0">
                <a:solidFill>
                  <a:schemeClr val="tx1"/>
                </a:solidFill>
                <a:latin typeface="Calibri" pitchFamily="34" charset="0"/>
                <a:ea typeface="Calibri" pitchFamily="34" charset="-122"/>
                <a:cs typeface="Calibri" pitchFamily="34" charset="-120"/>
              </a:rPr>
              <a:t>Statistical tests rejected a single bell curve for every feature we checked.</a:t>
            </a:r>
            <a:endParaRPr lang="en-US" sz="15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500" dirty="0"/>
          </a:p>
          <a:p>
            <a:pPr indent="0" marL="0">
              <a:buNone/>
            </a:pPr>
            <a:r>
              <a:rPr lang="en-US" sz="1500" dirty="0">
                <a:solidFill>
                  <a:schemeClr val="tx1"/>
                </a:solidFill>
                <a:latin typeface="Calibri" pitchFamily="34" charset="0"/>
                <a:ea typeface="Calibri" pitchFamily="34" charset="-122"/>
                <a:cs typeface="Calibri" pitchFamily="34" charset="-120"/>
              </a:rPr>
              <a:t>Anomaly score = how unlikely a transaction is under the model:</a:t>
            </a:r>
            <a:endParaRPr lang="en-US" sz="1500" dirty="0"/>
          </a:p>
          <a:p>
            <a:pPr indent="0" marL="0">
              <a:buNone/>
            </a:pPr>
            <a:r>
              <a:rPr lang="en-US" sz="1800" b="1" dirty="0">
                <a:solidFill>
                  <a:schemeClr val="accent1"/>
                </a:solidFill>
                <a:latin typeface="Calibri" pitchFamily="34" charset="0"/>
                <a:ea typeface="Calibri" pitchFamily="34" charset="-122"/>
                <a:cs typeface="Calibri" pitchFamily="34" charset="-120"/>
              </a:rPr>
              <a:t>score = −log p(transaction)</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Same model, different luck</a:t>
            </a:r>
            <a:endParaRPr lang="en-US" sz="3600" dirty="0"/>
          </a:p>
        </p:txBody>
      </p:sp>
      <p:graphicFrame>
        <p:nvGraphicFramePr>
          <p:cNvPr id="3" name="Seed instability chart" descr="Validation AP of 0.64, 0.34 and 0.67 for three seeds"/>
          <p:cNvGraphicFramePr/>
          <p:nvPr/>
        </p:nvGraphicFramePr>
        <p:xfrm>
          <a:off x="365760" y="1143000"/>
          <a:ext cx="4206240" cy="3383280"/>
        </p:xfrm>
        <a:graphic xmlns:a="http://schemas.openxmlformats.org/drawingml/2006/main">
          <a:graphicData uri="http://schemas.openxmlformats.org/drawingml/2006/chart">
            <c:chart xmlns:c="http://schemas.openxmlformats.org/drawingml/2006/chart" r:id="rId1"/>
          </a:graphicData>
        </a:graphic>
      </p:graphicFrame>
      <p:sp>
        <p:nvSpPr>
          <p:cNvPr id="4" name="Obstacle heading"/>
          <p:cNvSpPr txBox="1"/>
          <p:nvPr/>
        </p:nvSpPr>
        <p:spPr>
          <a:xfrm>
            <a:off x="4937760" y="1234440"/>
            <a:ext cx="3749040" cy="32004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What we saw</a:t>
            </a:r>
            <a:endParaRPr lang="en-US" sz="1800" dirty="0"/>
          </a:p>
        </p:txBody>
      </p:sp>
      <p:sp>
        <p:nvSpPr>
          <p:cNvPr id="5" name="Obstacle points"/>
          <p:cNvSpPr txBox="1"/>
          <p:nvPr/>
        </p:nvSpPr>
        <p:spPr>
          <a:xfrm>
            <a:off x="4937760" y="1645920"/>
            <a:ext cx="3749040"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Changing only the random starting point halved the model’s quality.</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A single run could have made us report a lucky number, or reject a good model.</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The textbook selection rule (BIC) kept preferring more components. It was rewarding collapsed components, not better fraud ranking.</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Searching the space, not one point</a:t>
            </a:r>
            <a:endParaRPr lang="en-US" sz="3600" dirty="0"/>
          </a:p>
        </p:txBody>
      </p:sp>
      <p:graphicFrame>
        <p:nvGraphicFramePr>
          <p:cNvPr id="3" name="K search chart" descr="Mean validation AP by K for two feature sets; all 29 features peak at K=3 with 0.55"/>
          <p:cNvGraphicFramePr/>
          <p:nvPr/>
        </p:nvGraphicFramePr>
        <p:xfrm>
          <a:off x="365760" y="1143000"/>
          <a:ext cx="5303520" cy="3429000"/>
        </p:xfrm>
        <a:graphic xmlns:a="http://schemas.openxmlformats.org/drawingml/2006/main">
          <a:graphicData uri="http://schemas.openxmlformats.org/drawingml/2006/chart">
            <c:chart xmlns:c="http://schemas.openxmlformats.org/drawingml/2006/chart" r:id="rId1"/>
          </a:graphicData>
        </a:graphic>
      </p:graphicFrame>
      <p:sp>
        <p:nvSpPr>
          <p:cNvPr id="4" name="Fix 1 circle"/>
          <p:cNvSpPr/>
          <p:nvPr/>
        </p:nvSpPr>
        <p:spPr>
          <a:xfrm>
            <a:off x="5989320" y="1234440"/>
            <a:ext cx="502920" cy="502920"/>
          </a:xfrm>
          <a:prstGeom prst="ellipse">
            <a:avLst/>
          </a:prstGeom>
          <a:solidFill>
            <a:schemeClr val="tx2"/>
          </a:solidFill>
          <a:ln w="12700">
            <a:solidFill>
              <a:schemeClr val="tx2"/>
            </a:solidFill>
            <a:prstDash val="solid"/>
          </a:ln>
        </p:spPr>
      </p:sp>
      <p:pic>
        <p:nvPicPr>
          <p:cNvPr id="5" name="Fix 1 icon" descr="Fix 1">    </p:cNvPr>
          <p:cNvPicPr>
            <a:picLocks noChangeAspect="1"/>
          </p:cNvPicPr>
          <p:nvPr/>
        </p:nvPicPr>
        <p:blipFill>
          <a:blip r:embed="rId2"/>
          <a:stretch>
            <a:fillRect/>
          </a:stretch>
        </p:blipFill>
        <p:spPr>
          <a:xfrm>
            <a:off x="6115050" y="1360170"/>
            <a:ext cx="251460" cy="251460"/>
          </a:xfrm>
          <a:prstGeom prst="rect">
            <a:avLst/>
          </a:prstGeom>
        </p:spPr>
      </p:pic>
      <p:sp>
        <p:nvSpPr>
          <p:cNvPr id="6" name="Fix text 1"/>
          <p:cNvSpPr txBox="1"/>
          <p:nvPr/>
        </p:nvSpPr>
        <p:spPr>
          <a:xfrm>
            <a:off x="6629400" y="1216152"/>
            <a:ext cx="2103120" cy="9144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3 seeds × 5 restarts</a:t>
            </a:r>
            <a:endParaRPr lang="en-US" sz="1500" dirty="0"/>
          </a:p>
          <a:p>
            <a:pPr indent="0" marL="0">
              <a:buNone/>
            </a:pPr>
            <a:r>
              <a:rPr lang="en-US" sz="1300" dirty="0">
                <a:solidFill>
                  <a:schemeClr val="tx2"/>
                </a:solidFill>
                <a:latin typeface="Calibri" pitchFamily="34" charset="0"/>
                <a:ea typeface="Calibri" pitchFamily="34" charset="-122"/>
                <a:cs typeface="Calibri" pitchFamily="34" charset="-120"/>
              </a:rPr>
              <a:t>for every setting: 144 fits in total</a:t>
            </a:r>
            <a:endParaRPr lang="en-US" sz="1500" dirty="0"/>
          </a:p>
        </p:txBody>
      </p:sp>
      <p:sp>
        <p:nvSpPr>
          <p:cNvPr id="7" name="Fix 2 circle"/>
          <p:cNvSpPr/>
          <p:nvPr/>
        </p:nvSpPr>
        <p:spPr>
          <a:xfrm>
            <a:off x="5989320" y="2331720"/>
            <a:ext cx="502920" cy="502920"/>
          </a:xfrm>
          <a:prstGeom prst="ellipse">
            <a:avLst/>
          </a:prstGeom>
          <a:solidFill>
            <a:schemeClr val="tx2"/>
          </a:solidFill>
          <a:ln w="12700">
            <a:solidFill>
              <a:schemeClr val="tx2"/>
            </a:solidFill>
            <a:prstDash val="solid"/>
          </a:ln>
        </p:spPr>
      </p:sp>
      <p:pic>
        <p:nvPicPr>
          <p:cNvPr id="8" name="Fix 2 icon" descr="Fix 2">    </p:cNvPr>
          <p:cNvPicPr>
            <a:picLocks noChangeAspect="1"/>
          </p:cNvPicPr>
          <p:nvPr/>
        </p:nvPicPr>
        <p:blipFill>
          <a:blip r:embed="rId3"/>
          <a:stretch>
            <a:fillRect/>
          </a:stretch>
        </p:blipFill>
        <p:spPr>
          <a:xfrm>
            <a:off x="6115050" y="2457450"/>
            <a:ext cx="251460" cy="251460"/>
          </a:xfrm>
          <a:prstGeom prst="rect">
            <a:avLst/>
          </a:prstGeom>
        </p:spPr>
      </p:pic>
      <p:sp>
        <p:nvSpPr>
          <p:cNvPr id="9" name="Fix text 2"/>
          <p:cNvSpPr txBox="1"/>
          <p:nvPr/>
        </p:nvSpPr>
        <p:spPr>
          <a:xfrm>
            <a:off x="6629400" y="2313432"/>
            <a:ext cx="2103120" cy="9144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Pick by validation AP</a:t>
            </a:r>
            <a:endParaRPr lang="en-US" sz="1500" dirty="0"/>
          </a:p>
          <a:p>
            <a:pPr indent="0" marL="0">
              <a:buNone/>
            </a:pPr>
            <a:r>
              <a:rPr lang="en-US" sz="1300" dirty="0">
                <a:solidFill>
                  <a:schemeClr val="tx2"/>
                </a:solidFill>
                <a:latin typeface="Calibri" pitchFamily="34" charset="0"/>
                <a:ea typeface="Calibri" pitchFamily="34" charset="-122"/>
                <a:cs typeface="Calibri" pitchFamily="34" charset="-120"/>
              </a:rPr>
              <a:t>the metric the analysts care about, not likelihood</a:t>
            </a:r>
            <a:endParaRPr lang="en-US" sz="1500" dirty="0"/>
          </a:p>
        </p:txBody>
      </p:sp>
      <p:sp>
        <p:nvSpPr>
          <p:cNvPr id="10" name="Fix 3 circle"/>
          <p:cNvSpPr/>
          <p:nvPr/>
        </p:nvSpPr>
        <p:spPr>
          <a:xfrm>
            <a:off x="5989320" y="3429000"/>
            <a:ext cx="502920" cy="502920"/>
          </a:xfrm>
          <a:prstGeom prst="ellipse">
            <a:avLst/>
          </a:prstGeom>
          <a:solidFill>
            <a:schemeClr val="tx2"/>
          </a:solidFill>
          <a:ln w="12700">
            <a:solidFill>
              <a:schemeClr val="tx2"/>
            </a:solidFill>
            <a:prstDash val="solid"/>
          </a:ln>
        </p:spPr>
      </p:sp>
      <p:pic>
        <p:nvPicPr>
          <p:cNvPr id="11" name="Fix 3 icon" descr="Fix 3">    </p:cNvPr>
          <p:cNvPicPr>
            <a:picLocks noChangeAspect="1"/>
          </p:cNvPicPr>
          <p:nvPr/>
        </p:nvPicPr>
        <p:blipFill>
          <a:blip r:embed="rId4"/>
          <a:stretch>
            <a:fillRect/>
          </a:stretch>
        </p:blipFill>
        <p:spPr>
          <a:xfrm>
            <a:off x="6115050" y="3554730"/>
            <a:ext cx="251460" cy="251460"/>
          </a:xfrm>
          <a:prstGeom prst="rect">
            <a:avLst/>
          </a:prstGeom>
        </p:spPr>
      </p:pic>
      <p:sp>
        <p:nvSpPr>
          <p:cNvPr id="12" name="Fix text 3"/>
          <p:cNvSpPr txBox="1"/>
          <p:nvPr/>
        </p:nvSpPr>
        <p:spPr>
          <a:xfrm>
            <a:off x="6629400" y="3410712"/>
            <a:ext cx="2103120" cy="9144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Report the spread</a:t>
            </a:r>
            <a:endParaRPr lang="en-US" sz="1500" dirty="0"/>
          </a:p>
          <a:p>
            <a:pPr indent="0" marL="0">
              <a:buNone/>
            </a:pPr>
            <a:r>
              <a:rPr lang="en-US" sz="1300" dirty="0">
                <a:solidFill>
                  <a:schemeClr val="tx2"/>
                </a:solidFill>
                <a:latin typeface="Calibri" pitchFamily="34" charset="0"/>
                <a:ea typeface="Calibri" pitchFamily="34" charset="-122"/>
                <a:cs typeface="Calibri" pitchFamily="34" charset="-120"/>
              </a:rPr>
              <a:t>minimum and maximum, not just the best run</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Budget A: at most 0.5% false alarms</a:t>
            </a:r>
            <a:endParaRPr lang="en-US" sz="3600" dirty="0"/>
          </a:p>
        </p:txBody>
      </p:sp>
      <p:sp>
        <p:nvSpPr>
          <p:cNvPr id="3" name="Result card 1"/>
          <p:cNvSpPr/>
          <p:nvPr/>
        </p:nvSpPr>
        <p:spPr>
          <a:xfrm>
            <a:off x="457200" y="1280160"/>
            <a:ext cx="2606040" cy="2514600"/>
          </a:xfrm>
          <a:prstGeom prst="roundRect">
            <a:avLst>
              <a:gd name="adj" fmla="val 3636"/>
            </a:avLst>
          </a:prstGeom>
          <a:solidFill>
            <a:schemeClr val="bg2"/>
          </a:solidFill>
          <a:ln w="12700">
            <a:solidFill>
              <a:schemeClr val="bg2"/>
            </a:solidFill>
            <a:prstDash val="solid"/>
          </a:ln>
        </p:spPr>
      </p:sp>
      <p:sp>
        <p:nvSpPr>
          <p:cNvPr id="4" name="Result value 1"/>
          <p:cNvSpPr txBox="1"/>
          <p:nvPr/>
        </p:nvSpPr>
        <p:spPr>
          <a:xfrm>
            <a:off x="640080" y="1463040"/>
            <a:ext cx="2240280" cy="82296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75.7%</a:t>
            </a:r>
            <a:endParaRPr lang="en-US" sz="4400" dirty="0"/>
          </a:p>
        </p:txBody>
      </p:sp>
      <p:sp>
        <p:nvSpPr>
          <p:cNvPr id="5" name="Result label 1"/>
          <p:cNvSpPr txBox="1"/>
          <p:nvPr/>
        </p:nvSpPr>
        <p:spPr>
          <a:xfrm>
            <a:off x="640080" y="2331720"/>
            <a:ext cx="224028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of fraud caught</a:t>
            </a:r>
            <a:endParaRPr lang="en-US" sz="1700" dirty="0"/>
          </a:p>
        </p:txBody>
      </p:sp>
      <p:sp>
        <p:nvSpPr>
          <p:cNvPr id="6" name="Result note 1"/>
          <p:cNvSpPr txBox="1"/>
          <p:nvPr/>
        </p:nvSpPr>
        <p:spPr>
          <a:xfrm>
            <a:off x="640080" y="2788920"/>
            <a:ext cx="2240280" cy="8686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56 of 74 test frauds</a:t>
            </a:r>
            <a:endParaRPr lang="en-US" sz="1300" dirty="0"/>
          </a:p>
          <a:p>
            <a:pPr indent="0" marL="0">
              <a:buNone/>
            </a:pPr>
            <a:r>
              <a:rPr lang="en-US" sz="1300" dirty="0">
                <a:solidFill>
                  <a:schemeClr val="accent4"/>
                </a:solidFill>
                <a:latin typeface="Calibri" pitchFamily="34" charset="0"/>
                <a:ea typeface="Calibri" pitchFamily="34" charset="-122"/>
                <a:cs typeface="Calibri" pitchFamily="34" charset="-120"/>
              </a:rPr>
              <a:t>95% CI 66–85%</a:t>
            </a:r>
            <a:endParaRPr lang="en-US" sz="1300" dirty="0"/>
          </a:p>
        </p:txBody>
      </p:sp>
      <p:sp>
        <p:nvSpPr>
          <p:cNvPr id="7" name="Result card 2"/>
          <p:cNvSpPr/>
          <p:nvPr/>
        </p:nvSpPr>
        <p:spPr>
          <a:xfrm>
            <a:off x="3273552" y="1280160"/>
            <a:ext cx="2606040" cy="2514600"/>
          </a:xfrm>
          <a:prstGeom prst="roundRect">
            <a:avLst>
              <a:gd name="adj" fmla="val 3636"/>
            </a:avLst>
          </a:prstGeom>
          <a:solidFill>
            <a:schemeClr val="bg2"/>
          </a:solidFill>
          <a:ln w="12700">
            <a:solidFill>
              <a:schemeClr val="bg2"/>
            </a:solidFill>
            <a:prstDash val="solid"/>
          </a:ln>
        </p:spPr>
      </p:sp>
      <p:sp>
        <p:nvSpPr>
          <p:cNvPr id="8" name="Result value 2"/>
          <p:cNvSpPr txBox="1"/>
          <p:nvPr/>
        </p:nvSpPr>
        <p:spPr>
          <a:xfrm>
            <a:off x="3456432" y="1463040"/>
            <a:ext cx="2240280" cy="822960"/>
          </a:xfrm>
          <a:prstGeom prst="rect">
            <a:avLst/>
          </a:prstGeom>
          <a:noFill/>
          <a:ln/>
        </p:spPr>
        <p:txBody>
          <a:bodyPr wrap="square" lIns="0" tIns="0" rIns="0" bIns="0" rtlCol="0" anchor="t"/>
          <a:lstStyle/>
          <a:p>
            <a:pPr indent="0" marL="0">
              <a:buNone/>
            </a:pPr>
            <a:r>
              <a:rPr lang="en-US" sz="4400" b="1" dirty="0">
                <a:solidFill>
                  <a:schemeClr val="tx2"/>
                </a:solidFill>
                <a:latin typeface="Cambria" pitchFamily="34" charset="0"/>
                <a:ea typeface="Cambria" pitchFamily="34" charset="-122"/>
                <a:cs typeface="Cambria" pitchFamily="34" charset="-120"/>
              </a:rPr>
              <a:t>0.28%</a:t>
            </a:r>
            <a:endParaRPr lang="en-US" sz="4400" dirty="0"/>
          </a:p>
        </p:txBody>
      </p:sp>
      <p:sp>
        <p:nvSpPr>
          <p:cNvPr id="9" name="Result label 2"/>
          <p:cNvSpPr txBox="1"/>
          <p:nvPr/>
        </p:nvSpPr>
        <p:spPr>
          <a:xfrm>
            <a:off x="3456432" y="2331720"/>
            <a:ext cx="224028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false-alarm rate</a:t>
            </a:r>
            <a:endParaRPr lang="en-US" sz="1700" dirty="0"/>
          </a:p>
        </p:txBody>
      </p:sp>
      <p:sp>
        <p:nvSpPr>
          <p:cNvPr id="10" name="Result note 2"/>
          <p:cNvSpPr txBox="1"/>
          <p:nvPr/>
        </p:nvSpPr>
        <p:spPr>
          <a:xfrm>
            <a:off x="3456432" y="2788920"/>
            <a:ext cx="2240280" cy="8686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158 of 56,672 legitimate customers bothered</a:t>
            </a:r>
            <a:endParaRPr lang="en-US" sz="1300" dirty="0"/>
          </a:p>
        </p:txBody>
      </p:sp>
      <p:sp>
        <p:nvSpPr>
          <p:cNvPr id="11" name="Result card 3"/>
          <p:cNvSpPr/>
          <p:nvPr/>
        </p:nvSpPr>
        <p:spPr>
          <a:xfrm>
            <a:off x="6089904" y="1280160"/>
            <a:ext cx="2606040" cy="2514600"/>
          </a:xfrm>
          <a:prstGeom prst="roundRect">
            <a:avLst>
              <a:gd name="adj" fmla="val 3636"/>
            </a:avLst>
          </a:prstGeom>
          <a:solidFill>
            <a:schemeClr val="bg2"/>
          </a:solidFill>
          <a:ln w="12700">
            <a:solidFill>
              <a:schemeClr val="bg2"/>
            </a:solidFill>
            <a:prstDash val="solid"/>
          </a:ln>
        </p:spPr>
      </p:sp>
      <p:sp>
        <p:nvSpPr>
          <p:cNvPr id="12" name="Result value 3"/>
          <p:cNvSpPr txBox="1"/>
          <p:nvPr/>
        </p:nvSpPr>
        <p:spPr>
          <a:xfrm>
            <a:off x="6272784" y="1463040"/>
            <a:ext cx="2240280" cy="8229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1 in 4</a:t>
            </a:r>
            <a:endParaRPr lang="en-US" sz="4400" dirty="0"/>
          </a:p>
        </p:txBody>
      </p:sp>
      <p:sp>
        <p:nvSpPr>
          <p:cNvPr id="13" name="Result label 3"/>
          <p:cNvSpPr txBox="1"/>
          <p:nvPr/>
        </p:nvSpPr>
        <p:spPr>
          <a:xfrm>
            <a:off x="6272784" y="2331720"/>
            <a:ext cx="224028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alerts is real fraud</a:t>
            </a:r>
            <a:endParaRPr lang="en-US" sz="1700" dirty="0"/>
          </a:p>
        </p:txBody>
      </p:sp>
      <p:sp>
        <p:nvSpPr>
          <p:cNvPr id="14" name="Result note 3"/>
          <p:cNvSpPr txBox="1"/>
          <p:nvPr/>
        </p:nvSpPr>
        <p:spPr>
          <a:xfrm>
            <a:off x="6272784" y="2788920"/>
            <a:ext cx="2240280" cy="8686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214 alerts lead to 56 confirmed cases</a:t>
            </a:r>
            <a:endParaRPr lang="en-US" sz="1300" dirty="0"/>
          </a:p>
        </p:txBody>
      </p:sp>
      <p:sp>
        <p:nvSpPr>
          <p:cNvPr id="15" name="Result A footnote"/>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Threshold set on validation, then applied once to the unseen final 20% of time. The realised false-alarm rate stayed under budget.</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Budget B: the analyst’s queue</a:t>
            </a:r>
            <a:endParaRPr lang="en-US" sz="3600" dirty="0"/>
          </a:p>
        </p:txBody>
      </p:sp>
      <p:graphicFrame>
        <p:nvGraphicFramePr>
          <p:cNvPr id="3" name="Top-k precision chart" descr="Precision of 72%, 84% and 56% for the top 25, 50 and 100 alerts"/>
          <p:cNvGraphicFramePr/>
          <p:nvPr/>
        </p:nvGraphicFramePr>
        <p:xfrm>
          <a:off x="365760" y="1143000"/>
          <a:ext cx="4937760" cy="3429000"/>
        </p:xfrm>
        <a:graphic xmlns:a="http://schemas.openxmlformats.org/drawingml/2006/main">
          <a:graphicData uri="http://schemas.openxmlformats.org/drawingml/2006/chart">
            <c:chart xmlns:c="http://schemas.openxmlformats.org/drawingml/2006/chart" r:id="rId1"/>
          </a:graphicData>
        </a:graphic>
      </p:graphicFrame>
      <p:sp>
        <p:nvSpPr>
          <p:cNvPr id="4" name="Top-50 stat"/>
          <p:cNvSpPr txBox="1"/>
          <p:nvPr/>
        </p:nvSpPr>
        <p:spPr>
          <a:xfrm>
            <a:off x="5669280" y="1280160"/>
            <a:ext cx="3017520" cy="123444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42 of 50</a:t>
            </a:r>
            <a:endParaRPr lang="en-US" sz="4400" dirty="0"/>
          </a:p>
          <a:p>
            <a:pPr indent="0" marL="0">
              <a:buNone/>
            </a:pPr>
            <a:r>
              <a:rPr lang="en-US" sz="1700" b="1" dirty="0">
                <a:solidFill>
                  <a:schemeClr val="tx1"/>
                </a:solidFill>
                <a:latin typeface="Calibri" pitchFamily="34" charset="0"/>
                <a:ea typeface="Calibri" pitchFamily="34" charset="-122"/>
                <a:cs typeface="Calibri" pitchFamily="34" charset="-120"/>
              </a:rPr>
              <a:t>top alerts are real fraud</a:t>
            </a:r>
            <a:endParaRPr lang="en-US" sz="4400" dirty="0"/>
          </a:p>
        </p:txBody>
      </p:sp>
      <p:sp>
        <p:nvSpPr>
          <p:cNvPr id="5" name="Random comparison"/>
          <p:cNvSpPr txBox="1"/>
          <p:nvPr/>
        </p:nvSpPr>
        <p:spPr>
          <a:xfrm>
            <a:off x="5669280" y="2697480"/>
            <a:ext cx="3017520" cy="10972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A random queue of 50 would hold about </a:t>
            </a:r>
            <a:pPr indent="0" marL="0">
              <a:buNone/>
            </a:pPr>
            <a:r>
              <a:rPr lang="en-US" sz="1500" b="1" dirty="0">
                <a:solidFill>
                  <a:schemeClr val="tx2"/>
                </a:solidFill>
                <a:latin typeface="Calibri" pitchFamily="34" charset="0"/>
                <a:ea typeface="Calibri" pitchFamily="34" charset="-122"/>
                <a:cs typeface="Calibri" pitchFamily="34" charset="-120"/>
              </a:rPr>
              <a:t>0.07</a:t>
            </a:r>
            <a:pPr indent="0" marL="0">
              <a:buNone/>
            </a:pPr>
            <a:r>
              <a:rPr lang="en-US" sz="1500" dirty="0">
                <a:solidFill>
                  <a:schemeClr val="tx2"/>
                </a:solidFill>
                <a:latin typeface="Calibri" pitchFamily="34" charset="0"/>
                <a:ea typeface="Calibri" pitchFamily="34" charset="-122"/>
                <a:cs typeface="Calibri" pitchFamily="34" charset="-120"/>
              </a:rPr>
              <a:t> frauds. Ranking turns a hopeless search into a focused shift.</a:t>
            </a:r>
            <a:endParaRPr lang="en-US" sz="1500" dirty="0"/>
          </a:p>
        </p:txBody>
      </p:sp>
      <p:sp>
        <p:nvSpPr>
          <p:cNvPr id="6" name="AP footnote"/>
          <p:cNvSpPr txBox="1"/>
          <p:nvPr/>
        </p:nvSpPr>
        <p:spPr>
          <a:xfrm>
            <a:off x="5669280" y="3977640"/>
            <a:ext cx="3017520" cy="457200"/>
          </a:xfrm>
          <a:prstGeom prst="rect">
            <a:avLst/>
          </a:prstGeom>
          <a:noFill/>
          <a:ln/>
        </p:spPr>
        <p:txBody>
          <a:bodyPr wrap="square" lIns="0" tIns="0" rIns="0" bIns="0" rtlCol="0" anchor="t"/>
          <a:lstStyle/>
          <a:p>
            <a:pPr indent="0" marL="0">
              <a:buNone/>
            </a:pPr>
            <a:r>
              <a:rPr lang="en-US" sz="1200" i="1" dirty="0">
                <a:solidFill>
                  <a:schemeClr val="accent4"/>
                </a:solidFill>
                <a:latin typeface="Calibri" pitchFamily="34" charset="0"/>
                <a:ea typeface="Calibri" pitchFamily="34" charset="-122"/>
                <a:cs typeface="Calibri" pitchFamily="34" charset="-120"/>
              </a:rPr>
              <a:t>Test AP 0.61 (95% CI 0.49–0.74) vs 0.0013 random</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Back to 2:47 AM</a:t>
            </a:r>
            <a:endParaRPr lang="en-US" sz="3600" dirty="0"/>
          </a:p>
        </p:txBody>
      </p:sp>
      <p:sp>
        <p:nvSpPr>
          <p:cNvPr id="3" name="Story circle 1"/>
          <p:cNvSpPr/>
          <p:nvPr/>
        </p:nvSpPr>
        <p:spPr>
          <a:xfrm>
            <a:off x="457200" y="1280160"/>
            <a:ext cx="640080" cy="640080"/>
          </a:xfrm>
          <a:prstGeom prst="ellipse">
            <a:avLst/>
          </a:prstGeom>
          <a:solidFill>
            <a:schemeClr val="tx2"/>
          </a:solidFill>
          <a:ln w="12700">
            <a:solidFill>
              <a:schemeClr val="tx2"/>
            </a:solidFill>
            <a:prstDash val="solid"/>
          </a:ln>
        </p:spPr>
      </p:sp>
      <p:pic>
        <p:nvPicPr>
          <p:cNvPr id="4" name="Story icon 1" descr="The queue">    </p:cNvPr>
          <p:cNvPicPr>
            <a:picLocks noChangeAspect="1"/>
          </p:cNvPicPr>
          <p:nvPr/>
        </p:nvPicPr>
        <p:blipFill>
          <a:blip r:embed="rId1"/>
          <a:stretch>
            <a:fillRect/>
          </a:stretch>
        </p:blipFill>
        <p:spPr>
          <a:xfrm>
            <a:off x="612648" y="1435608"/>
            <a:ext cx="329184" cy="329184"/>
          </a:xfrm>
          <a:prstGeom prst="rect">
            <a:avLst/>
          </a:prstGeom>
        </p:spPr>
      </p:pic>
      <p:sp>
        <p:nvSpPr>
          <p:cNvPr id="5" name="Story text 1"/>
          <p:cNvSpPr txBox="1"/>
          <p:nvPr/>
        </p:nvSpPr>
        <p:spPr>
          <a:xfrm>
            <a:off x="1325880" y="1261872"/>
            <a:ext cx="7315200" cy="9144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The queue</a:t>
            </a:r>
            <a:endParaRPr lang="en-US" sz="1700" dirty="0"/>
          </a:p>
          <a:p>
            <a:pPr indent="0" marL="0">
              <a:buNone/>
            </a:pPr>
            <a:r>
              <a:rPr lang="en-US" sz="1500" dirty="0">
                <a:solidFill>
                  <a:schemeClr val="accent6"/>
                </a:solidFill>
                <a:latin typeface="Calibri" pitchFamily="34" charset="0"/>
                <a:ea typeface="Calibri" pitchFamily="34" charset="-122"/>
                <a:cs typeface="Calibri" pitchFamily="34" charset="-120"/>
              </a:rPr>
              <a:t>The €1,890 purchase lands near the top, because nothing in that customer’s normal profile looks like it.</a:t>
            </a:r>
            <a:endParaRPr lang="en-US" sz="1700" dirty="0"/>
          </a:p>
        </p:txBody>
      </p:sp>
      <p:sp>
        <p:nvSpPr>
          <p:cNvPr id="6" name="Story circle 2"/>
          <p:cNvSpPr/>
          <p:nvPr/>
        </p:nvSpPr>
        <p:spPr>
          <a:xfrm>
            <a:off x="457200" y="2377440"/>
            <a:ext cx="640080" cy="640080"/>
          </a:xfrm>
          <a:prstGeom prst="ellipse">
            <a:avLst/>
          </a:prstGeom>
          <a:solidFill>
            <a:schemeClr val="tx2"/>
          </a:solidFill>
          <a:ln w="12700">
            <a:solidFill>
              <a:schemeClr val="tx2"/>
            </a:solidFill>
            <a:prstDash val="solid"/>
          </a:ln>
        </p:spPr>
      </p:sp>
      <p:pic>
        <p:nvPicPr>
          <p:cNvPr id="7" name="Story icon 2" descr="The analyst">    </p:cNvPr>
          <p:cNvPicPr>
            <a:picLocks noChangeAspect="1"/>
          </p:cNvPicPr>
          <p:nvPr/>
        </p:nvPicPr>
        <p:blipFill>
          <a:blip r:embed="rId2"/>
          <a:stretch>
            <a:fillRect/>
          </a:stretch>
        </p:blipFill>
        <p:spPr>
          <a:xfrm>
            <a:off x="612648" y="2532888"/>
            <a:ext cx="329184" cy="329184"/>
          </a:xfrm>
          <a:prstGeom prst="rect">
            <a:avLst/>
          </a:prstGeom>
        </p:spPr>
      </p:pic>
      <p:sp>
        <p:nvSpPr>
          <p:cNvPr id="8" name="Story text 2"/>
          <p:cNvSpPr txBox="1"/>
          <p:nvPr/>
        </p:nvSpPr>
        <p:spPr>
          <a:xfrm>
            <a:off x="1325880" y="2359152"/>
            <a:ext cx="7315200" cy="9144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The analyst</a:t>
            </a:r>
            <a:endParaRPr lang="en-US" sz="1700" dirty="0"/>
          </a:p>
          <a:p>
            <a:pPr indent="0" marL="0">
              <a:buNone/>
            </a:pPr>
            <a:r>
              <a:rPr lang="en-US" sz="1500" dirty="0">
                <a:solidFill>
                  <a:schemeClr val="accent6"/>
                </a:solidFill>
                <a:latin typeface="Calibri" pitchFamily="34" charset="0"/>
                <a:ea typeface="Calibri" pitchFamily="34" charset="-122"/>
                <a:cs typeface="Calibri" pitchFamily="34" charset="-120"/>
              </a:rPr>
              <a:t>Works the top 50 cases and confirms 42 frauds, instead of searching blindly through 56,746.</a:t>
            </a:r>
            <a:endParaRPr lang="en-US" sz="1700" dirty="0"/>
          </a:p>
        </p:txBody>
      </p:sp>
      <p:sp>
        <p:nvSpPr>
          <p:cNvPr id="9" name="Story circle 3"/>
          <p:cNvSpPr/>
          <p:nvPr/>
        </p:nvSpPr>
        <p:spPr>
          <a:xfrm>
            <a:off x="457200" y="3474720"/>
            <a:ext cx="640080" cy="640080"/>
          </a:xfrm>
          <a:prstGeom prst="ellipse">
            <a:avLst/>
          </a:prstGeom>
          <a:solidFill>
            <a:schemeClr val="tx2"/>
          </a:solidFill>
          <a:ln w="12700">
            <a:solidFill>
              <a:schemeClr val="tx2"/>
            </a:solidFill>
            <a:prstDash val="solid"/>
          </a:ln>
        </p:spPr>
      </p:sp>
      <p:pic>
        <p:nvPicPr>
          <p:cNvPr id="10" name="Story icon 3" descr="What still slips">    </p:cNvPr>
          <p:cNvPicPr>
            <a:picLocks noChangeAspect="1"/>
          </p:cNvPicPr>
          <p:nvPr/>
        </p:nvPicPr>
        <p:blipFill>
          <a:blip r:embed="rId3"/>
          <a:stretch>
            <a:fillRect/>
          </a:stretch>
        </p:blipFill>
        <p:spPr>
          <a:xfrm>
            <a:off x="612648" y="3630168"/>
            <a:ext cx="329184" cy="329184"/>
          </a:xfrm>
          <a:prstGeom prst="rect">
            <a:avLst/>
          </a:prstGeom>
        </p:spPr>
      </p:pic>
      <p:sp>
        <p:nvSpPr>
          <p:cNvPr id="11" name="Story text 3"/>
          <p:cNvSpPr txBox="1"/>
          <p:nvPr/>
        </p:nvSpPr>
        <p:spPr>
          <a:xfrm>
            <a:off x="1325880" y="3456432"/>
            <a:ext cx="7315200" cy="914400"/>
          </a:xfrm>
          <a:prstGeom prst="rect">
            <a:avLst/>
          </a:prstGeom>
          <a:noFill/>
          <a:ln/>
        </p:spPr>
        <p:txBody>
          <a:bodyPr wrap="square" lIns="0" tIns="0" rIns="0" bIns="0" rtlCol="0" anchor="t"/>
          <a:lstStyle/>
          <a:p>
            <a:pPr indent="0" marL="0">
              <a:buNone/>
            </a:pPr>
            <a:r>
              <a:rPr lang="en-US" sz="1700" b="1" dirty="0">
                <a:solidFill>
                  <a:schemeClr val="accent3"/>
                </a:solidFill>
                <a:latin typeface="Calibri" pitchFamily="34" charset="0"/>
                <a:ea typeface="Calibri" pitchFamily="34" charset="-122"/>
                <a:cs typeface="Calibri" pitchFamily="34" charset="-120"/>
              </a:rPr>
              <a:t>What still slips</a:t>
            </a:r>
            <a:endParaRPr lang="en-US" sz="1700" dirty="0"/>
          </a:p>
          <a:p>
            <a:pPr indent="0" marL="0">
              <a:buNone/>
            </a:pPr>
            <a:r>
              <a:rPr lang="en-US" sz="1500" dirty="0">
                <a:solidFill>
                  <a:schemeClr val="accent6"/>
                </a:solidFill>
                <a:latin typeface="Calibri" pitchFamily="34" charset="0"/>
                <a:ea typeface="Calibri" pitchFamily="34" charset="-122"/>
                <a:cs typeface="Calibri" pitchFamily="34" charset="-120"/>
              </a:rPr>
              <a:t>18 of 74 frauds looked like ordinary spending. A density model can’t flag what looks normal.</a:t>
            </a:r>
            <a:endParaRPr lang="en-US" sz="17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What we learned</a:t>
            </a:r>
            <a:endParaRPr lang="en-US" sz="3600" dirty="0"/>
          </a:p>
        </p:txBody>
      </p:sp>
      <p:sp>
        <p:nvSpPr>
          <p:cNvPr id="3" name="Lesson card 1"/>
          <p:cNvSpPr/>
          <p:nvPr/>
        </p:nvSpPr>
        <p:spPr>
          <a:xfrm>
            <a:off x="457200" y="1234440"/>
            <a:ext cx="4023360" cy="1463040"/>
          </a:xfrm>
          <a:prstGeom prst="roundRect">
            <a:avLst>
              <a:gd name="adj" fmla="val 6250"/>
            </a:avLst>
          </a:prstGeom>
          <a:solidFill>
            <a:schemeClr val="bg2"/>
          </a:solidFill>
          <a:ln w="12700">
            <a:solidFill>
              <a:schemeClr val="bg2"/>
            </a:solidFill>
            <a:prstDash val="solid"/>
          </a:ln>
        </p:spPr>
      </p:sp>
      <p:sp>
        <p:nvSpPr>
          <p:cNvPr id="4" name="Lesson 1 circle"/>
          <p:cNvSpPr/>
          <p:nvPr/>
        </p:nvSpPr>
        <p:spPr>
          <a:xfrm>
            <a:off x="685800" y="1463040"/>
            <a:ext cx="548640" cy="548640"/>
          </a:xfrm>
          <a:prstGeom prst="ellipse">
            <a:avLst/>
          </a:prstGeom>
          <a:solidFill>
            <a:schemeClr val="accent1"/>
          </a:solidFill>
          <a:ln w="12700">
            <a:solidFill>
              <a:schemeClr val="accent1"/>
            </a:solidFill>
            <a:prstDash val="solid"/>
          </a:ln>
        </p:spPr>
      </p:sp>
      <p:pic>
        <p:nvPicPr>
          <p:cNvPr id="5" name="Lesson 1 icon" descr="Lesson 1">    </p:cNvPr>
          <p:cNvPicPr>
            <a:picLocks noChangeAspect="1"/>
          </p:cNvPicPr>
          <p:nvPr/>
        </p:nvPicPr>
        <p:blipFill>
          <a:blip r:embed="rId1"/>
          <a:stretch>
            <a:fillRect/>
          </a:stretch>
        </p:blipFill>
        <p:spPr>
          <a:xfrm>
            <a:off x="822960" y="1600200"/>
            <a:ext cx="274320" cy="274320"/>
          </a:xfrm>
          <a:prstGeom prst="rect">
            <a:avLst/>
          </a:prstGeom>
        </p:spPr>
      </p:pic>
      <p:sp>
        <p:nvSpPr>
          <p:cNvPr id="6" name="Lesson text 1"/>
          <p:cNvSpPr txBox="1"/>
          <p:nvPr/>
        </p:nvSpPr>
        <p:spPr>
          <a:xfrm>
            <a:off x="1417320" y="1417320"/>
            <a:ext cx="2880360" cy="118872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Rank, don’t classify</a:t>
            </a:r>
            <a:endParaRPr lang="en-US" sz="1700" dirty="0"/>
          </a:p>
          <a:p>
            <a:pPr indent="0" marL="0">
              <a:buNone/>
            </a:pPr>
            <a:r>
              <a:rPr lang="en-US" sz="1400" dirty="0">
                <a:solidFill>
                  <a:schemeClr val="tx2"/>
                </a:solidFill>
                <a:latin typeface="Calibri" pitchFamily="34" charset="0"/>
                <a:ea typeface="Calibri" pitchFamily="34" charset="-122"/>
                <a:cs typeface="Calibri" pitchFamily="34" charset="-120"/>
              </a:rPr>
              <a:t>With 0.17% fraud, the top of the list is what matters, so we measure precision there.</a:t>
            </a:r>
            <a:endParaRPr lang="en-US" sz="1700" dirty="0"/>
          </a:p>
        </p:txBody>
      </p:sp>
      <p:sp>
        <p:nvSpPr>
          <p:cNvPr id="7" name="Lesson card 2"/>
          <p:cNvSpPr/>
          <p:nvPr/>
        </p:nvSpPr>
        <p:spPr>
          <a:xfrm>
            <a:off x="4663440" y="1234440"/>
            <a:ext cx="4023360" cy="1463040"/>
          </a:xfrm>
          <a:prstGeom prst="roundRect">
            <a:avLst>
              <a:gd name="adj" fmla="val 6250"/>
            </a:avLst>
          </a:prstGeom>
          <a:solidFill>
            <a:schemeClr val="bg2"/>
          </a:solidFill>
          <a:ln w="12700">
            <a:solidFill>
              <a:schemeClr val="bg2"/>
            </a:solidFill>
            <a:prstDash val="solid"/>
          </a:ln>
        </p:spPr>
      </p:sp>
      <p:sp>
        <p:nvSpPr>
          <p:cNvPr id="8" name="Lesson 2 circle"/>
          <p:cNvSpPr/>
          <p:nvPr/>
        </p:nvSpPr>
        <p:spPr>
          <a:xfrm>
            <a:off x="4892040" y="1463040"/>
            <a:ext cx="548640" cy="548640"/>
          </a:xfrm>
          <a:prstGeom prst="ellipse">
            <a:avLst/>
          </a:prstGeom>
          <a:solidFill>
            <a:schemeClr val="accent1"/>
          </a:solidFill>
          <a:ln w="12700">
            <a:solidFill>
              <a:schemeClr val="accent1"/>
            </a:solidFill>
            <a:prstDash val="solid"/>
          </a:ln>
        </p:spPr>
      </p:sp>
      <p:pic>
        <p:nvPicPr>
          <p:cNvPr id="9" name="Lesson 2 icon" descr="Lesson 2">    </p:cNvPr>
          <p:cNvPicPr>
            <a:picLocks noChangeAspect="1"/>
          </p:cNvPicPr>
          <p:nvPr/>
        </p:nvPicPr>
        <p:blipFill>
          <a:blip r:embed="rId2"/>
          <a:stretch>
            <a:fillRect/>
          </a:stretch>
        </p:blipFill>
        <p:spPr>
          <a:xfrm>
            <a:off x="5029200" y="1600200"/>
            <a:ext cx="274320" cy="274320"/>
          </a:xfrm>
          <a:prstGeom prst="rect">
            <a:avLst/>
          </a:prstGeom>
        </p:spPr>
      </p:pic>
      <p:sp>
        <p:nvSpPr>
          <p:cNvPr id="10" name="Lesson text 2"/>
          <p:cNvSpPr txBox="1"/>
          <p:nvPr/>
        </p:nvSpPr>
        <p:spPr>
          <a:xfrm>
            <a:off x="5623560" y="1417320"/>
            <a:ext cx="2880360" cy="118872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Respect time</a:t>
            </a:r>
            <a:endParaRPr lang="en-US" sz="1700" dirty="0"/>
          </a:p>
          <a:p>
            <a:pPr indent="0" marL="0">
              <a:buNone/>
            </a:pPr>
            <a:r>
              <a:rPr lang="en-US" sz="1400" dirty="0">
                <a:solidFill>
                  <a:schemeClr val="tx2"/>
                </a:solidFill>
                <a:latin typeface="Calibri" pitchFamily="34" charset="0"/>
                <a:ea typeface="Calibri" pitchFamily="34" charset="-122"/>
                <a:cs typeface="Calibri" pitchFamily="34" charset="-120"/>
              </a:rPr>
              <a:t>Train on the past, test on the future. Random splits flatter models.</a:t>
            </a:r>
            <a:endParaRPr lang="en-US" sz="1700" dirty="0"/>
          </a:p>
        </p:txBody>
      </p:sp>
      <p:sp>
        <p:nvSpPr>
          <p:cNvPr id="11" name="Lesson card 3"/>
          <p:cNvSpPr/>
          <p:nvPr/>
        </p:nvSpPr>
        <p:spPr>
          <a:xfrm>
            <a:off x="457200" y="2880360"/>
            <a:ext cx="4023360" cy="1463040"/>
          </a:xfrm>
          <a:prstGeom prst="roundRect">
            <a:avLst>
              <a:gd name="adj" fmla="val 6250"/>
            </a:avLst>
          </a:prstGeom>
          <a:solidFill>
            <a:schemeClr val="bg2"/>
          </a:solidFill>
          <a:ln w="12700">
            <a:solidFill>
              <a:schemeClr val="bg2"/>
            </a:solidFill>
            <a:prstDash val="solid"/>
          </a:ln>
        </p:spPr>
      </p:sp>
      <p:sp>
        <p:nvSpPr>
          <p:cNvPr id="12" name="Lesson 3 circle"/>
          <p:cNvSpPr/>
          <p:nvPr/>
        </p:nvSpPr>
        <p:spPr>
          <a:xfrm>
            <a:off x="685800" y="3108960"/>
            <a:ext cx="548640" cy="548640"/>
          </a:xfrm>
          <a:prstGeom prst="ellipse">
            <a:avLst/>
          </a:prstGeom>
          <a:solidFill>
            <a:schemeClr val="accent1"/>
          </a:solidFill>
          <a:ln w="12700">
            <a:solidFill>
              <a:schemeClr val="accent1"/>
            </a:solidFill>
            <a:prstDash val="solid"/>
          </a:ln>
        </p:spPr>
      </p:sp>
      <p:pic>
        <p:nvPicPr>
          <p:cNvPr id="13" name="Lesson 3 icon" descr="Lesson 3">    </p:cNvPr>
          <p:cNvPicPr>
            <a:picLocks noChangeAspect="1"/>
          </p:cNvPicPr>
          <p:nvPr/>
        </p:nvPicPr>
        <p:blipFill>
          <a:blip r:embed="rId3"/>
          <a:stretch>
            <a:fillRect/>
          </a:stretch>
        </p:blipFill>
        <p:spPr>
          <a:xfrm>
            <a:off x="822960" y="3246120"/>
            <a:ext cx="274320" cy="274320"/>
          </a:xfrm>
          <a:prstGeom prst="rect">
            <a:avLst/>
          </a:prstGeom>
        </p:spPr>
      </p:pic>
      <p:sp>
        <p:nvSpPr>
          <p:cNvPr id="14" name="Lesson text 3"/>
          <p:cNvSpPr txBox="1"/>
          <p:nvPr/>
        </p:nvSpPr>
        <p:spPr>
          <a:xfrm>
            <a:off x="1417320" y="3063240"/>
            <a:ext cx="2880360" cy="118872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Test the randomness</a:t>
            </a:r>
            <a:endParaRPr lang="en-US" sz="1700" dirty="0"/>
          </a:p>
          <a:p>
            <a:pPr indent="0" marL="0">
              <a:buNone/>
            </a:pPr>
            <a:r>
              <a:rPr lang="en-US" sz="1400" dirty="0">
                <a:solidFill>
                  <a:schemeClr val="tx2"/>
                </a:solidFill>
                <a:latin typeface="Calibri" pitchFamily="34" charset="0"/>
                <a:ea typeface="Calibri" pitchFamily="34" charset="-122"/>
                <a:cs typeface="Calibri" pitchFamily="34" charset="-120"/>
              </a:rPr>
              <a:t>One seed can double or halve a result. Report the spread.</a:t>
            </a:r>
            <a:endParaRPr lang="en-US" sz="1700" dirty="0"/>
          </a:p>
        </p:txBody>
      </p:sp>
      <p:sp>
        <p:nvSpPr>
          <p:cNvPr id="15" name="Lesson card 4"/>
          <p:cNvSpPr/>
          <p:nvPr/>
        </p:nvSpPr>
        <p:spPr>
          <a:xfrm>
            <a:off x="4663440" y="2880360"/>
            <a:ext cx="4023360" cy="1463040"/>
          </a:xfrm>
          <a:prstGeom prst="roundRect">
            <a:avLst>
              <a:gd name="adj" fmla="val 6250"/>
            </a:avLst>
          </a:prstGeom>
          <a:solidFill>
            <a:schemeClr val="bg2"/>
          </a:solidFill>
          <a:ln w="12700">
            <a:solidFill>
              <a:schemeClr val="bg2"/>
            </a:solidFill>
            <a:prstDash val="solid"/>
          </a:ln>
        </p:spPr>
      </p:sp>
      <p:sp>
        <p:nvSpPr>
          <p:cNvPr id="16" name="Lesson 4 circle"/>
          <p:cNvSpPr/>
          <p:nvPr/>
        </p:nvSpPr>
        <p:spPr>
          <a:xfrm>
            <a:off x="4892040" y="3108960"/>
            <a:ext cx="548640" cy="548640"/>
          </a:xfrm>
          <a:prstGeom prst="ellipse">
            <a:avLst/>
          </a:prstGeom>
          <a:solidFill>
            <a:schemeClr val="accent1"/>
          </a:solidFill>
          <a:ln w="12700">
            <a:solidFill>
              <a:schemeClr val="accent1"/>
            </a:solidFill>
            <a:prstDash val="solid"/>
          </a:ln>
        </p:spPr>
      </p:sp>
      <p:pic>
        <p:nvPicPr>
          <p:cNvPr id="17" name="Lesson 4 icon" descr="Lesson 4">    </p:cNvPr>
          <p:cNvPicPr>
            <a:picLocks noChangeAspect="1"/>
          </p:cNvPicPr>
          <p:nvPr/>
        </p:nvPicPr>
        <p:blipFill>
          <a:blip r:embed="rId4"/>
          <a:stretch>
            <a:fillRect/>
          </a:stretch>
        </p:blipFill>
        <p:spPr>
          <a:xfrm>
            <a:off x="5029200" y="3246120"/>
            <a:ext cx="274320" cy="274320"/>
          </a:xfrm>
          <a:prstGeom prst="rect">
            <a:avLst/>
          </a:prstGeom>
        </p:spPr>
      </p:pic>
      <p:sp>
        <p:nvSpPr>
          <p:cNvPr id="18" name="Lesson text 4"/>
          <p:cNvSpPr txBox="1"/>
          <p:nvPr/>
        </p:nvSpPr>
        <p:spPr>
          <a:xfrm>
            <a:off x="5623560" y="3063240"/>
            <a:ext cx="2880360" cy="118872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Fit ≠ usefulness</a:t>
            </a:r>
            <a:endParaRPr lang="en-US" sz="1700" dirty="0"/>
          </a:p>
          <a:p>
            <a:pPr indent="0" marL="0">
              <a:buNone/>
            </a:pPr>
            <a:r>
              <a:rPr lang="en-US" sz="1400" dirty="0">
                <a:solidFill>
                  <a:schemeClr val="tx2"/>
                </a:solidFill>
                <a:latin typeface="Calibri" pitchFamily="34" charset="0"/>
                <a:ea typeface="Calibri" pitchFamily="34" charset="-122"/>
                <a:cs typeface="Calibri" pitchFamily="34" charset="-120"/>
              </a:rPr>
              <a:t>The best statistical fit was not the best fraud detector. Choose by the business metric.</a:t>
            </a:r>
            <a:endParaRPr lang="en-US" sz="17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Questions?</a:t>
            </a:r>
            <a:endParaRPr lang="en-US" sz="4000" dirty="0"/>
          </a:p>
        </p:txBody>
      </p:sp>
      <p:sp>
        <p:nvSpPr>
          <p:cNvPr id="3" name="Text 0"/>
          <p:cNvSpPr/>
          <p:nvPr>
            <p:ph idx="101" type="body" hasCustomPrompt="1"/>
          </p:nvPr>
        </p:nvSpPr>
        <p:spPr>
          <a:xfrm>
            <a:off x="548640" y="2743200"/>
            <a:ext cx="8046720" cy="1097280"/>
          </a:xfrm>
          <a:prstGeom prst="rect">
            <a:avLst/>
          </a:prstGeom>
          <a:noFill/>
          <a:ln/>
        </p:spPr>
        <p:txBody>
          <a:bodyPr wrap="square" lIns="0" tIns="0" rIns="0" bIns="0" rtlCol="0" anchor="t"/>
          <a:lstStyle/>
          <a:p>
            <a:pPr indent="0" marL="0">
              <a:buNone/>
            </a:pPr>
            <a:r>
              <a:rPr lang="en-US" sz="1600" dirty="0">
                <a:solidFill>
                  <a:schemeClr val="accent6"/>
                </a:solidFill>
              </a:rPr>
              <a:t>Next, Phase 2: an autoencoder on the same splits and budgets, compared head to head with the GMM.</a:t>
            </a:r>
            <a:endParaRPr lang="en-US" sz="1600" dirty="0"/>
          </a:p>
          <a:p>
            <a:pPr indent="0" marL="0">
              <a:buNone/>
            </a:pPr>
            <a:r>
              <a:rPr lang="en-US" sz="1600" dirty="0">
                <a:solidFill>
                  <a:schemeClr val="accent6"/>
                </a:solidFill>
              </a:rPr>
              <a:t>Team T047 · Naveen Kumar · Aditya Raj · Shagun Vishnoi · Archit Mamodiya · Ritik Ranjan</a:t>
            </a:r>
            <a:endParaRPr lang="en-US" sz="1600" dirty="0"/>
          </a:p>
        </p:txBody>
      </p:sp>
    </p:spTree>
  </p:cSld>
  <p:clrMapOvr>
    <a:masterClrMapping/>
  </p:clrMapOvr>
</p:sld>
</file>

<file path=ppt/theme/theme1.xml><?xml version="1.0" encoding="utf-8"?>
<a:theme xmlns:a="http://schemas.openxmlformats.org/drawingml/2006/main" name="Fraud Triage">
  <a:themeElements>
    <a:clrScheme name="Fraud Triage">
      <a:dk1>
        <a:srgbClr val="0F1B2D"/>
      </a:dk1>
      <a:lt1>
        <a:srgbClr val="FFFFFF"/>
      </a:lt1>
      <a:dk2>
        <a:srgbClr val="1D3557"/>
      </a:dk2>
      <a:lt2>
        <a:srgbClr val="EEF2F7"/>
      </a:lt2>
      <a:accent1>
        <a:srgbClr val="E63946"/>
      </a:accent1>
      <a:accent2>
        <a:srgbClr val="2A9D8F"/>
      </a:accent2>
      <a:accent3>
        <a:srgbClr val="F4A261"/>
      </a:accent3>
      <a:accent4>
        <a:srgbClr val="457B9D"/>
      </a:accent4>
      <a:accent5>
        <a:srgbClr val="8D99AE"/>
      </a:accent5>
      <a:accent6>
        <a:srgbClr val="A8DADC"/>
      </a:accent6>
      <a:hlink>
        <a:srgbClr val="457B9D"/>
      </a:hlink>
      <a:folHlink>
        <a:srgbClr val="8D99AE"/>
      </a:folHlink>
    </a:clrScheme>
    <a:fontScheme name="Fraud Tri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 Fraud Triage — Phase 1</dc:title>
  <dc:subject>PptxGenJS Presentation</dc:subject>
  <dc:creator>Team T047</dc:creator>
  <cp:lastModifiedBy>Team T047</cp:lastModifiedBy>
  <cp:revision>1</cp:revision>
  <dcterms:created xsi:type="dcterms:W3CDTF">2026-10-26T10:14:31Z</dcterms:created>
  <dcterms:modified xsi:type="dcterms:W3CDTF">2026-10-26T10:14:31Z</dcterms:modified>
</cp:coreProperties>
</file>